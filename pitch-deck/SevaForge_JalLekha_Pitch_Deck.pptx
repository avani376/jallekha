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C331B46-6913-4FA2-B76D-0328307721FA}" type="slidenum"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(60-90s). 'Good morning. We are SevaForge - Arya, Avani and Siddhant. JalLekha answers one deceptively simple question for any campus or housing society that buys water by the tanker: did the water that arrived actually match the water that was recorded, measured and paid for?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at the screenshot: this is our live product, not a mockup - every figure on screen is recomputed from source records. What came in, what was measured, what needs checking.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Status honesty up front builds credibility: this is a working prototype, validated by 41 automated domain tests and 33 browser end-to-end checks, running on synthetic demonstration data. No pilot, no savings claims - yet. That honesty is deliberate; it is the same discipline the product itself enforces.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Domain: Sustainability - technology for pollution mitigation, water conservation and waste management. Water you cannot account for is water you cannot conserve.'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CA1250-971C-439A-B6B3-FC882AD4905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PROBLEM (60-75s). Ground it in a concrete scene: a hostel manager holds a tanker receipt for 5,000 litres, a dipstick reading that says the tank is fuller than it should be, and a meter log that disagrees with both. Three registers, kept by three people, in three formats - and no way to compute a single water balance.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three failure modes on the right are the heart of the pitch: (1) the same symptom - 'water doesn't add up' - has three different causes needing three different actions; (2) every manual measurement carries uncertainty that registers hide; (3) hand corrections destroy the evidence trail.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Jury question to pre-empt: 'why not just a spreadsheet?' - because a spreadsheet still cannot separate a duplicate record from a missing measurement, still hides uncertainty, and still lets anyone overwrite history silently.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772BFF-088D-4EFE-988B-C235FA7E2B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INNOVATION (90s). Walk the equation left to right: R equals Opening stock plus Deliveries minus Usage minus Closing stock. Each input carries its own declared uncertainty, and the bounds are summed conservatively - if the interval contains zero, the records are consistent with measurement error, full stop.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the three outcomes - this is the differentiator. Scenario B: a double-entered receipt shows R = +5,000 L, the duplicate candidate is linked to both rows, and a reviewer voids it with a reason - R returns to 0 L and history is retained. Scenario C: a missing closing reading means NO residual is asserted at all - the app refuses to invent a number and asks for a measurement. Scenario D: a residual outside uncertainty opens an investigation, but the cause is never auto-labelled.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Say it plainly: JalLekha distinguishes duplicate records from missing measurements from unexplained residuals - each gets a different, owned next action. That separation is what manual registers and generic dashboards cannot do.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F7689B-1F61-467F-8A7F-35FB400AE3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ENGINEERING (75-90s). Three-layer architecture, and the layer that matters is the middle one: a pure TypeScript domain core with no framework imports - balance, findings, CSV import, audit state and strict unit handling are all plain functions, so they are trivially testable and portable.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data layer is a port: today a disclosed browser-local adapter (honest about being per-device), tomorrow a shared backend - Supabase with row-level security is designed as a drop-in, which is exactly what the deployment roadmap needs.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 the evidence column as claims with receipts: 41/41 Vitest, 33/33 Playwright against the production build, strict TypeScript, and a dated validation log in the repo. On AI: it is optional, bring-your-own-key, schema-validated with a rule-based fallback - the deterministic engine never depends on it. If the network dies, the maths still runs.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Roadmap in one breath: pilot on one device now, shared authenticated workspaces next, multi-site rollup then.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BE6F4E-046F-4D7B-9E23-3FE6C3389E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IMPACT (60-75s). Be disciplined here: we do not claim litres saved, because we have not run a field pilot - and that honesty is itself the impact story.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we CAN show: a measurement plan that is already instrumented in the product. Detection rate on planted discrepancies, reviewer time-to-diagnosis against manual tracing, the share of periods reported with quantified uncertainty, and case-closure quality. The pilot sets the baselines.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sustainability logic chain: water you cannot account for, you cannot conserve. Reconciliation makes every invisible loss visible and ownable - that is the conservation lever. Fewer surprise shortfalls mean fewer emergency tanker hauls; documented evidence ends disputes and re-work.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Scalability: the unit of scaling is a CSV file and a browser - tank to hostel to campus to ward, with no hardware purchase. The same equation works at every level; only the ledger size changes.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2E5BD7C-7CA3-41D6-9DD7-E40453755A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CLOSE (45-60s). Introduce the team in one line each - Arya leads product and the reconciliation domain, Avani drives engineering and data integrity, Siddhant owns quality and the user workflow.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the ask, concretely: one pilot site for four to six weeks - we bring the software, the metrics and the training; the campus brings its existing paper registers as CSVs. Mentorship and lab access to run the reviewer-time study properly. And a route to shared deployment so a whole institution can run on authenticated workspaces.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 on the line that is already in the product footer: know what came in, what was measured, and what needs checking. That is the whole product - an honest balance for every litre.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Leave the jury with the links: the repo and the live demo are one click away.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FF8BC4C-542B-426D-A1F5-18A567E277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IN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2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502920" y="384120"/>
            <a:ext cx="566640" cy="56664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0">
            <a:noFill/>
          </a:ln>
          <a:effectLst>
            <a:outerShdw algn="bl" blurRad="63360" dir="2700000" dist="25455" kx="0" ky="0" rotWithShape="0" sx="100000" sy="100000">
              <a:srgbClr val="0A1B28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Image 0" descr="D:\seva innovation\jallekha\pitch-deck\assets\logo_mark.png"/>
          <p:cNvPicPr/>
          <p:nvPr/>
        </p:nvPicPr>
        <p:blipFill>
          <a:blip r:embed="rId1"/>
          <a:stretch/>
        </p:blipFill>
        <p:spPr>
          <a:xfrm>
            <a:off x="553320" y="434520"/>
            <a:ext cx="465840" cy="46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 1"/>
          <p:cNvSpPr/>
          <p:nvPr/>
        </p:nvSpPr>
        <p:spPr>
          <a:xfrm>
            <a:off x="1179720" y="384120"/>
            <a:ext cx="20113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SevaForge</a:t>
            </a:r>
            <a:endParaRPr lang="en-IN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5120640" y="457200"/>
            <a:ext cx="6564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SEVA FIRST INNOVATION CHALLENGE 2026 · MAHARASHTRA ZONE</a:t>
            </a:r>
            <a:endParaRPr lang="en-IN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3"/>
          <p:cNvSpPr/>
          <p:nvPr/>
        </p:nvSpPr>
        <p:spPr>
          <a:xfrm>
            <a:off x="502920" y="1298520"/>
            <a:ext cx="56689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JalLekha</a:t>
            </a:r>
            <a:endParaRPr lang="en-IN" sz="6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502920" y="2395800"/>
            <a:ext cx="56689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Every delivery. Every reading.</a:t>
            </a:r>
            <a:endParaRPr lang="en-IN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A clearer water balance.</a:t>
            </a:r>
            <a:endParaRPr lang="en-IN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502920" y="3401640"/>
            <a:ext cx="544032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DCEBEA"/>
                </a:solidFill>
                <a:effectLst/>
                <a:uFillTx/>
                <a:latin typeface="Segoe UI"/>
                <a:ea typeface="Segoe UI"/>
              </a:rPr>
              <a:t>A deterministic water-balance engine that reconciles tanker receipts, tank stock readings and meter logs for campuses and housing societies - showing what came in, what was measured, and what needs checking, with uncertainty you can see and an audit trail you can defend.</a:t>
            </a:r>
            <a:endParaRPr lang="en-IN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6"/>
          <p:cNvSpPr/>
          <p:nvPr/>
        </p:nvSpPr>
        <p:spPr>
          <a:xfrm>
            <a:off x="502920" y="4709160"/>
            <a:ext cx="2395440" cy="383760"/>
          </a:xfrm>
          <a:prstGeom prst="roundRect">
            <a:avLst>
              <a:gd name="adj" fmla="val 21429"/>
            </a:avLst>
          </a:prstGeom>
          <a:solidFill>
            <a:srgbClr val="12324A"/>
          </a:solidFill>
          <a:ln w="9525">
            <a:solidFill>
              <a:srgbClr val="1E425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7"/>
          <p:cNvSpPr/>
          <p:nvPr/>
        </p:nvSpPr>
        <p:spPr>
          <a:xfrm>
            <a:off x="502920" y="4709160"/>
            <a:ext cx="2395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Working prototype · live demo</a:t>
            </a:r>
            <a:endParaRPr lang="en-IN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8"/>
          <p:cNvSpPr/>
          <p:nvPr/>
        </p:nvSpPr>
        <p:spPr>
          <a:xfrm>
            <a:off x="3026520" y="4709160"/>
            <a:ext cx="2431800" cy="383760"/>
          </a:xfrm>
          <a:prstGeom prst="roundRect">
            <a:avLst>
              <a:gd name="adj" fmla="val 21429"/>
            </a:avLst>
          </a:prstGeom>
          <a:solidFill>
            <a:srgbClr val="12324A"/>
          </a:solidFill>
          <a:ln w="9525">
            <a:solidFill>
              <a:srgbClr val="1E425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9"/>
          <p:cNvSpPr/>
          <p:nvPr/>
        </p:nvSpPr>
        <p:spPr>
          <a:xfrm>
            <a:off x="3026520" y="4709160"/>
            <a:ext cx="2431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41 unit + 33 e2e tests green</a:t>
            </a:r>
            <a:endParaRPr lang="en-IN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0"/>
          <p:cNvSpPr/>
          <p:nvPr/>
        </p:nvSpPr>
        <p:spPr>
          <a:xfrm>
            <a:off x="502920" y="5376600"/>
            <a:ext cx="5851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DBAC6"/>
                </a:solidFill>
                <a:effectLst/>
                <a:uFillTx/>
                <a:latin typeface="Segoe UI"/>
                <a:ea typeface="Segoe UI"/>
              </a:rPr>
              <a:t>Sector: Sustainability - Energy, Climate and Others</a:t>
            </a:r>
            <a:endParaRPr lang="en-IN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DBAC6"/>
                </a:solidFill>
                <a:effectLst/>
                <a:uFillTx/>
                <a:latin typeface="Segoe UI"/>
                <a:ea typeface="Segoe UI"/>
              </a:rPr>
              <a:t>Sub-theme: Technology for pollution mitigation, water conservation and waste management</a:t>
            </a:r>
            <a:endParaRPr lang="en-IN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DBAC6"/>
                </a:solidFill>
                <a:effectLst/>
                <a:uFillTx/>
                <a:latin typeface="Segoe UI"/>
                <a:ea typeface="Segoe UI"/>
              </a:rPr>
              <a:t>Track A - Product / Technology Solution · Open Level</a:t>
            </a:r>
            <a:endParaRPr lang="en-IN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1"/>
          <p:cNvSpPr/>
          <p:nvPr/>
        </p:nvSpPr>
        <p:spPr>
          <a:xfrm>
            <a:off x="5966640" y="1184040"/>
            <a:ext cx="5769360" cy="2739960"/>
          </a:xfrm>
          <a:prstGeom prst="roundRect">
            <a:avLst>
              <a:gd name="adj" fmla="val 2336"/>
            </a:avLst>
          </a:prstGeom>
          <a:solidFill>
            <a:srgbClr val="FFFFFF"/>
          </a:solidFill>
          <a:ln w="9525">
            <a:solidFill>
              <a:srgbClr val="1E4258"/>
            </a:solidFill>
            <a:round/>
          </a:ln>
          <a:effectLst>
            <a:outerShdw algn="bl" blurRad="88920" dir="2700000" dist="37674" kx="0" ky="0" rotWithShape="0" sx="100000" sy="100000">
              <a:srgbClr val="0A1B28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" name="Image 1" descr="D:\seva innovation\jallekha\pitch-deck\assets\app-hero.png"/>
          <p:cNvPicPr/>
          <p:nvPr/>
        </p:nvPicPr>
        <p:blipFill>
          <a:blip r:embed="rId2"/>
          <a:stretch/>
        </p:blipFill>
        <p:spPr>
          <a:xfrm>
            <a:off x="6016680" y="1234440"/>
            <a:ext cx="5668920" cy="263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 12"/>
          <p:cNvSpPr/>
          <p:nvPr/>
        </p:nvSpPr>
        <p:spPr>
          <a:xfrm>
            <a:off x="5966640" y="3979440"/>
            <a:ext cx="5769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DBAC6"/>
                </a:solidFill>
                <a:effectLst/>
                <a:uFillTx/>
                <a:latin typeface="Segoe UI"/>
                <a:ea typeface="Segoe UI"/>
              </a:rPr>
              <a:t>The live product - jallekha-na41.zai-ai.site/demo</a:t>
            </a:r>
            <a:endParaRPr lang="en-IN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3"/>
          <p:cNvSpPr/>
          <p:nvPr/>
        </p:nvSpPr>
        <p:spPr>
          <a:xfrm>
            <a:off x="5966640" y="4384440"/>
            <a:ext cx="5769360" cy="1694880"/>
          </a:xfrm>
          <a:prstGeom prst="roundRect">
            <a:avLst>
              <a:gd name="adj" fmla="val 3776"/>
            </a:avLst>
          </a:prstGeom>
          <a:solidFill>
            <a:srgbClr val="FFFFFF"/>
          </a:solidFill>
          <a:ln w="9525">
            <a:solidFill>
              <a:srgbClr val="1E4258"/>
            </a:solidFill>
            <a:round/>
          </a:ln>
          <a:effectLst>
            <a:outerShdw algn="bl" blurRad="88920" dir="2700000" dist="37674" kx="0" ky="0" rotWithShape="0" sx="100000" sy="100000">
              <a:srgbClr val="0A1B28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" name="Image 2" descr="D:\seva innovation\jallekha\pitch-deck\assets\app-workflow.png"/>
          <p:cNvPicPr/>
          <p:nvPr/>
        </p:nvPicPr>
        <p:blipFill>
          <a:blip r:embed="rId3"/>
          <a:stretch/>
        </p:blipFill>
        <p:spPr>
          <a:xfrm>
            <a:off x="6016680" y="4434840"/>
            <a:ext cx="5668920" cy="159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Text 14"/>
          <p:cNvSpPr/>
          <p:nvPr/>
        </p:nvSpPr>
        <p:spPr>
          <a:xfrm>
            <a:off x="5966640" y="6134400"/>
            <a:ext cx="5769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DBAC6"/>
                </a:solidFill>
                <a:effectLst/>
                <a:uFillTx/>
                <a:latin typeface="Segoe UI"/>
                <a:ea typeface="Segoe UI"/>
              </a:rPr>
              <a:t>One workflow, visible end to end - record → reconcile → investigate → resolve</a:t>
            </a:r>
            <a:endParaRPr lang="en-IN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/>
          <p:cNvSpPr/>
          <p:nvPr/>
        </p:nvSpPr>
        <p:spPr>
          <a:xfrm>
            <a:off x="502920" y="311040"/>
            <a:ext cx="1118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pc="300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THE PROBLEM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"/>
          <p:cNvSpPr/>
          <p:nvPr/>
        </p:nvSpPr>
        <p:spPr>
          <a:xfrm>
            <a:off x="502920" y="567000"/>
            <a:ext cx="111826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Three registers. No single water balance.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2"/>
          <p:cNvSpPr/>
          <p:nvPr/>
        </p:nvSpPr>
        <p:spPr>
          <a:xfrm>
            <a:off x="502920" y="1481400"/>
            <a:ext cx="1755360" cy="1444320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round/>
          </a:ln>
          <a:effectLst>
            <a:outerShdw algn="bl" blurRad="63360" dir="2700000" dist="25455" kx="0" ky="0" rotWithShape="0" sx="100000" sy="100000">
              <a:srgbClr val="0A1B28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3"/>
          <p:cNvSpPr/>
          <p:nvPr/>
        </p:nvSpPr>
        <p:spPr>
          <a:xfrm>
            <a:off x="612720" y="1591200"/>
            <a:ext cx="1535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Tanker receipts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4"/>
          <p:cNvSpPr/>
          <p:nvPr/>
        </p:nvSpPr>
        <p:spPr>
          <a:xfrm>
            <a:off x="612720" y="2103120"/>
            <a:ext cx="1535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E9488"/>
                </a:solidFill>
                <a:effectLst/>
                <a:uFillTx/>
                <a:latin typeface="Consolas"/>
                <a:ea typeface="Consolas"/>
              </a:rPr>
              <a:t>#R-101 · 5,000 L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5"/>
          <p:cNvSpPr/>
          <p:nvPr/>
        </p:nvSpPr>
        <p:spPr>
          <a:xfrm>
            <a:off x="612720" y="2395800"/>
            <a:ext cx="1535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paper slips + a register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6"/>
          <p:cNvSpPr/>
          <p:nvPr/>
        </p:nvSpPr>
        <p:spPr>
          <a:xfrm>
            <a:off x="2423160" y="1481400"/>
            <a:ext cx="1755360" cy="1444320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round/>
          </a:ln>
          <a:effectLst>
            <a:outerShdw algn="bl" blurRad="63360" dir="2700000" dist="25455" kx="0" ky="0" rotWithShape="0" sx="100000" sy="100000">
              <a:srgbClr val="0A1B28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7"/>
          <p:cNvSpPr/>
          <p:nvPr/>
        </p:nvSpPr>
        <p:spPr>
          <a:xfrm>
            <a:off x="2532960" y="1591200"/>
            <a:ext cx="1535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Tank dipstick readings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8"/>
          <p:cNvSpPr/>
          <p:nvPr/>
        </p:nvSpPr>
        <p:spPr>
          <a:xfrm>
            <a:off x="2532960" y="2103120"/>
            <a:ext cx="1535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E9488"/>
                </a:solidFill>
                <a:effectLst/>
                <a:uFillTx/>
                <a:latin typeface="Consolas"/>
                <a:ea typeface="Consolas"/>
              </a:rPr>
              <a:t>11,000 L ± 200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9"/>
          <p:cNvSpPr/>
          <p:nvPr/>
        </p:nvSpPr>
        <p:spPr>
          <a:xfrm>
            <a:off x="2532960" y="2395800"/>
            <a:ext cx="1535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twice a day, by hand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0"/>
          <p:cNvSpPr/>
          <p:nvPr/>
        </p:nvSpPr>
        <p:spPr>
          <a:xfrm>
            <a:off x="4343400" y="1481400"/>
            <a:ext cx="1755360" cy="1444320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round/>
          </a:ln>
          <a:effectLst>
            <a:outerShdw algn="bl" blurRad="63360" dir="2700000" dist="25455" kx="0" ky="0" rotWithShape="0" sx="100000" sy="100000">
              <a:srgbClr val="0A1B28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1"/>
          <p:cNvSpPr/>
          <p:nvPr/>
        </p:nvSpPr>
        <p:spPr>
          <a:xfrm>
            <a:off x="4453200" y="1591200"/>
            <a:ext cx="1535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Meter logs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2"/>
          <p:cNvSpPr/>
          <p:nvPr/>
        </p:nvSpPr>
        <p:spPr>
          <a:xfrm>
            <a:off x="4453200" y="2103120"/>
            <a:ext cx="1535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E9488"/>
                </a:solidFill>
                <a:effectLst/>
                <a:uFillTx/>
                <a:latin typeface="Consolas"/>
                <a:ea typeface="Consolas"/>
              </a:rPr>
              <a:t>1,00,000 → 1,04,000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3"/>
          <p:cNvSpPr/>
          <p:nvPr/>
        </p:nvSpPr>
        <p:spPr>
          <a:xfrm>
            <a:off x="4453200" y="2395800"/>
            <a:ext cx="1535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cumulative m³, one line a day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4"/>
          <p:cNvSpPr/>
          <p:nvPr/>
        </p:nvSpPr>
        <p:spPr>
          <a:xfrm>
            <a:off x="1380600" y="2944080"/>
            <a:ext cx="2299680" cy="722520"/>
          </a:xfrm>
          <a:prstGeom prst="line">
            <a:avLst/>
          </a:prstGeom>
          <a:ln w="19050">
            <a:solidFill>
              <a:srgbClr val="0E948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5"/>
          <p:cNvSpPr/>
          <p:nvPr/>
        </p:nvSpPr>
        <p:spPr>
          <a:xfrm>
            <a:off x="3300840" y="2944080"/>
            <a:ext cx="379440" cy="722520"/>
          </a:xfrm>
          <a:prstGeom prst="line">
            <a:avLst/>
          </a:prstGeom>
          <a:ln w="19050">
            <a:solidFill>
              <a:srgbClr val="0E948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6"/>
          <p:cNvSpPr/>
          <p:nvPr/>
        </p:nvSpPr>
        <p:spPr>
          <a:xfrm flipH="1">
            <a:off x="3680280" y="2944080"/>
            <a:ext cx="1540800" cy="722520"/>
          </a:xfrm>
          <a:prstGeom prst="line">
            <a:avLst/>
          </a:prstGeom>
          <a:ln w="19050">
            <a:solidFill>
              <a:srgbClr val="0E948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7"/>
          <p:cNvSpPr/>
          <p:nvPr/>
        </p:nvSpPr>
        <p:spPr>
          <a:xfrm>
            <a:off x="1005840" y="3703320"/>
            <a:ext cx="5348880" cy="968760"/>
          </a:xfrm>
          <a:prstGeom prst="roundRect">
            <a:avLst>
              <a:gd name="adj" fmla="val 8491"/>
            </a:avLst>
          </a:prstGeom>
          <a:solidFill>
            <a:srgbClr val="0B2434"/>
          </a:solidFill>
          <a:ln w="0">
            <a:noFill/>
          </a:ln>
          <a:effectLst>
            <a:outerShdw algn="bl" blurRad="88920" dir="2700000" dist="37674" kx="0" ky="0" rotWithShape="0" sx="100000" sy="100000">
              <a:srgbClr val="0A1B28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8"/>
          <p:cNvSpPr/>
          <p:nvPr/>
        </p:nvSpPr>
        <p:spPr>
          <a:xfrm>
            <a:off x="1188720" y="3813120"/>
            <a:ext cx="4983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Water doesn't add up - so staff trace entries by hand</a:t>
            </a:r>
            <a:endParaRPr lang="en-IN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9"/>
          <p:cNvSpPr/>
          <p:nvPr/>
        </p:nvSpPr>
        <p:spPr>
          <a:xfrm>
            <a:off x="1188720" y="4206240"/>
            <a:ext cx="49831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Duplicate? Missing reading? Real loss? The register cannot say.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0"/>
          <p:cNvSpPr/>
          <p:nvPr/>
        </p:nvSpPr>
        <p:spPr>
          <a:xfrm>
            <a:off x="502920" y="502920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WHO FEELS IT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1"/>
          <p:cNvSpPr/>
          <p:nvPr/>
        </p:nvSpPr>
        <p:spPr>
          <a:xfrm>
            <a:off x="502920" y="5340240"/>
            <a:ext cx="1755360" cy="402120"/>
          </a:xfrm>
          <a:prstGeom prst="roundRect">
            <a:avLst>
              <a:gd name="adj" fmla="val 20455"/>
            </a:avLst>
          </a:prstGeom>
          <a:solidFill>
            <a:srgbClr val="EEF6F5"/>
          </a:solidFill>
          <a:ln w="9525">
            <a:solidFill>
              <a:srgbClr val="E2F0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2"/>
          <p:cNvSpPr/>
          <p:nvPr/>
        </p:nvSpPr>
        <p:spPr>
          <a:xfrm>
            <a:off x="502920" y="5340240"/>
            <a:ext cx="17553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Hostel &amp; campus teams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23"/>
          <p:cNvSpPr/>
          <p:nvPr/>
        </p:nvSpPr>
        <p:spPr>
          <a:xfrm>
            <a:off x="2368440" y="5340240"/>
            <a:ext cx="1554120" cy="402120"/>
          </a:xfrm>
          <a:prstGeom prst="roundRect">
            <a:avLst>
              <a:gd name="adj" fmla="val 20455"/>
            </a:avLst>
          </a:prstGeom>
          <a:solidFill>
            <a:srgbClr val="EEF6F5"/>
          </a:solidFill>
          <a:ln w="9525">
            <a:solidFill>
              <a:srgbClr val="E2F0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4"/>
          <p:cNvSpPr/>
          <p:nvPr/>
        </p:nvSpPr>
        <p:spPr>
          <a:xfrm>
            <a:off x="2368440" y="5340240"/>
            <a:ext cx="1554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Housing societies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25"/>
          <p:cNvSpPr/>
          <p:nvPr/>
        </p:nvSpPr>
        <p:spPr>
          <a:xfrm>
            <a:off x="4032360" y="5340240"/>
            <a:ext cx="1755360" cy="402120"/>
          </a:xfrm>
          <a:prstGeom prst="roundRect">
            <a:avLst>
              <a:gd name="adj" fmla="val 20455"/>
            </a:avLst>
          </a:prstGeom>
          <a:solidFill>
            <a:srgbClr val="EEF6F5"/>
          </a:solidFill>
          <a:ln w="9525">
            <a:solidFill>
              <a:srgbClr val="E2F0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6"/>
          <p:cNvSpPr/>
          <p:nvPr/>
        </p:nvSpPr>
        <p:spPr>
          <a:xfrm>
            <a:off x="4032360" y="5340240"/>
            <a:ext cx="17553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Students &amp; residents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7"/>
          <p:cNvSpPr/>
          <p:nvPr/>
        </p:nvSpPr>
        <p:spPr>
          <a:xfrm>
            <a:off x="6263640" y="1444680"/>
            <a:ext cx="5421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WHY PAPER CANNOT CARRY THIS WORKFLOW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28"/>
          <p:cNvSpPr/>
          <p:nvPr/>
        </p:nvSpPr>
        <p:spPr>
          <a:xfrm>
            <a:off x="6263640" y="1828800"/>
            <a:ext cx="310680" cy="310680"/>
          </a:xfrm>
          <a:prstGeom prst="ellipse">
            <a:avLst/>
          </a:prstGeom>
          <a:solidFill>
            <a:srgbClr val="0E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9"/>
          <p:cNvSpPr/>
          <p:nvPr/>
        </p:nvSpPr>
        <p:spPr>
          <a:xfrm>
            <a:off x="6263640" y="182880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1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30"/>
          <p:cNvSpPr/>
          <p:nvPr/>
        </p:nvSpPr>
        <p:spPr>
          <a:xfrm>
            <a:off x="6720840" y="1810440"/>
            <a:ext cx="49647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Same symptom, three different causes</a:t>
            </a:r>
            <a:endParaRPr lang="en-IN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31"/>
          <p:cNvSpPr/>
          <p:nvPr/>
        </p:nvSpPr>
        <p:spPr>
          <a:xfrm>
            <a:off x="6720840" y="2157840"/>
            <a:ext cx="49647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A duplicate receipt needs a correction, a missing reading needs a measurement, an unexplained residual needs investigation. Paper cannot tell them apart - so staff guess.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32"/>
          <p:cNvSpPr/>
          <p:nvPr/>
        </p:nvSpPr>
        <p:spPr>
          <a:xfrm>
            <a:off x="6720840" y="3154680"/>
            <a:ext cx="4965120" cy="360"/>
          </a:xfrm>
          <a:prstGeom prst="line">
            <a:avLst/>
          </a:prstGeom>
          <a:ln w="9525">
            <a:solidFill>
              <a:srgbClr val="D9E6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33"/>
          <p:cNvSpPr/>
          <p:nvPr/>
        </p:nvSpPr>
        <p:spPr>
          <a:xfrm>
            <a:off x="6263640" y="3310200"/>
            <a:ext cx="310680" cy="310680"/>
          </a:xfrm>
          <a:prstGeom prst="ellipse">
            <a:avLst/>
          </a:prstGeom>
          <a:solidFill>
            <a:srgbClr val="0E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34"/>
          <p:cNvSpPr/>
          <p:nvPr/>
        </p:nvSpPr>
        <p:spPr>
          <a:xfrm>
            <a:off x="6263640" y="331020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2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35"/>
          <p:cNvSpPr/>
          <p:nvPr/>
        </p:nvSpPr>
        <p:spPr>
          <a:xfrm>
            <a:off x="6720840" y="3291840"/>
            <a:ext cx="49647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Exact-looking numbers hide uncertainty</a:t>
            </a:r>
            <a:endParaRPr lang="en-IN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36"/>
          <p:cNvSpPr/>
          <p:nvPr/>
        </p:nvSpPr>
        <p:spPr>
          <a:xfrm>
            <a:off x="6720840" y="3639240"/>
            <a:ext cx="49647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A dipstick is ±100-200 L, a meter ±100 L. Registers make estimates look exact: small errors trigger panic while real losses hide inside tolerance.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37"/>
          <p:cNvSpPr/>
          <p:nvPr/>
        </p:nvSpPr>
        <p:spPr>
          <a:xfrm>
            <a:off x="6720840" y="4635720"/>
            <a:ext cx="4965120" cy="360"/>
          </a:xfrm>
          <a:prstGeom prst="line">
            <a:avLst/>
          </a:prstGeom>
          <a:ln w="9525">
            <a:solidFill>
              <a:srgbClr val="D9E6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38"/>
          <p:cNvSpPr/>
          <p:nvPr/>
        </p:nvSpPr>
        <p:spPr>
          <a:xfrm>
            <a:off x="6263640" y="4791600"/>
            <a:ext cx="310680" cy="310680"/>
          </a:xfrm>
          <a:prstGeom prst="ellipse">
            <a:avLst/>
          </a:prstGeom>
          <a:solidFill>
            <a:srgbClr val="0E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39"/>
          <p:cNvSpPr/>
          <p:nvPr/>
        </p:nvSpPr>
        <p:spPr>
          <a:xfrm>
            <a:off x="6263640" y="479160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3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40"/>
          <p:cNvSpPr/>
          <p:nvPr/>
        </p:nvSpPr>
        <p:spPr>
          <a:xfrm>
            <a:off x="6720840" y="4773240"/>
            <a:ext cx="49647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Corrections destroy the evidence</a:t>
            </a:r>
            <a:endParaRPr lang="en-IN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41"/>
          <p:cNvSpPr/>
          <p:nvPr/>
        </p:nvSpPr>
        <p:spPr>
          <a:xfrm>
            <a:off x="6720840" y="5120640"/>
            <a:ext cx="49647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Overwrite one register line and the audit trail is gone. Disputes with suppliers cannot be evidenced - so nothing gets fixed and water stays unaccounted.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42"/>
          <p:cNvSpPr/>
          <p:nvPr/>
        </p:nvSpPr>
        <p:spPr>
          <a:xfrm>
            <a:off x="502920" y="645552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SevaForge · JalLekha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43"/>
          <p:cNvSpPr/>
          <p:nvPr/>
        </p:nvSpPr>
        <p:spPr>
          <a:xfrm>
            <a:off x="6199560" y="6455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Seva First Innovation Challenge 2026 · Maharashtra Zone · 2 / 6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 0"/>
          <p:cNvSpPr/>
          <p:nvPr/>
        </p:nvSpPr>
        <p:spPr>
          <a:xfrm>
            <a:off x="502920" y="311040"/>
            <a:ext cx="1118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pc="300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THE INNOVATION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"/>
          <p:cNvSpPr/>
          <p:nvPr/>
        </p:nvSpPr>
        <p:spPr>
          <a:xfrm>
            <a:off x="502920" y="567000"/>
            <a:ext cx="111826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One equation. Three honest outcomes.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"/>
          <p:cNvSpPr/>
          <p:nvPr/>
        </p:nvSpPr>
        <p:spPr>
          <a:xfrm>
            <a:off x="502920" y="1444680"/>
            <a:ext cx="5211720" cy="2541600"/>
          </a:xfrm>
          <a:prstGeom prst="roundRect">
            <a:avLst>
              <a:gd name="adj" fmla="val 3597"/>
            </a:avLst>
          </a:prstGeom>
          <a:solidFill>
            <a:srgbClr val="0B2434"/>
          </a:solidFill>
          <a:ln w="0">
            <a:noFill/>
          </a:ln>
          <a:effectLst>
            <a:outerShdw algn="bl" blurRad="88920" dir="2700000" dist="37674" kx="0" ky="0" rotWithShape="0" sx="100000" sy="100000">
              <a:srgbClr val="0A1B28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3"/>
          <p:cNvSpPr/>
          <p:nvPr/>
        </p:nvSpPr>
        <p:spPr>
          <a:xfrm>
            <a:off x="731520" y="1591200"/>
            <a:ext cx="4754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pc="201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THE WATER BALANCE - recon-v1.0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4"/>
          <p:cNvSpPr/>
          <p:nvPr/>
        </p:nvSpPr>
        <p:spPr>
          <a:xfrm>
            <a:off x="731520" y="1847160"/>
            <a:ext cx="47545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R = O + D - U - C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5"/>
          <p:cNvSpPr/>
          <p:nvPr/>
        </p:nvSpPr>
        <p:spPr>
          <a:xfrm>
            <a:off x="749880" y="2450520"/>
            <a:ext cx="11883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99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OPENING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6"/>
          <p:cNvSpPr/>
          <p:nvPr/>
        </p:nvSpPr>
        <p:spPr>
          <a:xfrm>
            <a:off x="1956960" y="2450520"/>
            <a:ext cx="11883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99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DELIVERIES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7"/>
          <p:cNvSpPr/>
          <p:nvPr/>
        </p:nvSpPr>
        <p:spPr>
          <a:xfrm>
            <a:off x="3163680" y="2450520"/>
            <a:ext cx="11883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99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USAGE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8"/>
          <p:cNvSpPr/>
          <p:nvPr/>
        </p:nvSpPr>
        <p:spPr>
          <a:xfrm>
            <a:off x="4370760" y="2450520"/>
            <a:ext cx="11883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99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CLOSING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9"/>
          <p:cNvSpPr/>
          <p:nvPr/>
        </p:nvSpPr>
        <p:spPr>
          <a:xfrm>
            <a:off x="731520" y="2706480"/>
            <a:ext cx="4754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BFE8E2"/>
                </a:solidFill>
                <a:effectLst/>
                <a:uFillTx/>
                <a:latin typeface="Consolas"/>
                <a:ea typeface="Consolas"/>
              </a:rPr>
              <a:t>R_min = O_min + D_min - U_max - C_max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BFE8E2"/>
                </a:solidFill>
                <a:effectLst/>
                <a:uFillTx/>
                <a:latin typeface="Consolas"/>
                <a:ea typeface="Consolas"/>
              </a:rPr>
              <a:t>conservative summed bounds - never root-sum-square optimism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0"/>
          <p:cNvSpPr/>
          <p:nvPr/>
        </p:nvSpPr>
        <p:spPr>
          <a:xfrm>
            <a:off x="731520" y="3273480"/>
            <a:ext cx="4754880" cy="360"/>
          </a:xfrm>
          <a:prstGeom prst="line">
            <a:avLst/>
          </a:prstGeom>
          <a:ln w="9525">
            <a:solidFill>
              <a:srgbClr val="1E425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1"/>
          <p:cNvSpPr/>
          <p:nvPr/>
        </p:nvSpPr>
        <p:spPr>
          <a:xfrm>
            <a:off x="731520" y="3364920"/>
            <a:ext cx="1508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Status precedence: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2"/>
          <p:cNvSpPr/>
          <p:nvPr/>
        </p:nvSpPr>
        <p:spPr>
          <a:xfrm>
            <a:off x="2286000" y="336492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BFE8E2"/>
                </a:solidFill>
                <a:effectLst/>
                <a:uFillTx/>
                <a:latin typeface="Segoe UI"/>
                <a:ea typeface="Segoe UI"/>
              </a:rPr>
              <a:t>invalid → incomplete (no residual asserted) → uncertainty not quantified → within uncertainty → discrepancy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3"/>
          <p:cNvSpPr/>
          <p:nvPr/>
        </p:nvSpPr>
        <p:spPr>
          <a:xfrm>
            <a:off x="6003000" y="1431000"/>
            <a:ext cx="5769360" cy="2297160"/>
          </a:xfrm>
          <a:prstGeom prst="roundRect">
            <a:avLst>
              <a:gd name="adj" fmla="val 2786"/>
            </a:avLst>
          </a:prstGeom>
          <a:solidFill>
            <a:srgbClr val="FFFFFF"/>
          </a:solidFill>
          <a:ln w="9525">
            <a:solidFill>
              <a:srgbClr val="D9E6E4"/>
            </a:solidFill>
            <a:round/>
          </a:ln>
          <a:effectLst>
            <a:outerShdw algn="bl" blurRad="88920" dir="2700000" dist="37674" kx="0" ky="0" rotWithShape="0" sx="100000" sy="100000">
              <a:srgbClr val="0A1B28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Image 0" descr="D:\seva innovation\jallekha\pitch-deck\assets\app-recon-b-crop.png"/>
          <p:cNvPicPr/>
          <p:nvPr/>
        </p:nvPicPr>
        <p:blipFill>
          <a:blip r:embed="rId1"/>
          <a:stretch/>
        </p:blipFill>
        <p:spPr>
          <a:xfrm>
            <a:off x="6053400" y="1481400"/>
            <a:ext cx="5668920" cy="219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Text 14"/>
          <p:cNvSpPr/>
          <p:nvPr/>
        </p:nvSpPr>
        <p:spPr>
          <a:xfrm>
            <a:off x="6003000" y="3783240"/>
            <a:ext cx="5769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Live reconciliation - Scenario B: a double-entered receipt R-101 yields R = +5,000 L, bounds [4,300, 5,700] L, duplicate candidate linked to both rows.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5"/>
          <p:cNvSpPr/>
          <p:nvPr/>
        </p:nvSpPr>
        <p:spPr>
          <a:xfrm>
            <a:off x="502920" y="4590360"/>
            <a:ext cx="3638880" cy="1444320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round/>
          </a:ln>
          <a:effectLst>
            <a:outerShdw algn="bl" blurRad="63360" dir="2700000" dist="25455" kx="0" ky="0" rotWithShape="0" sx="100000" sy="100000">
              <a:srgbClr val="0A1B28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6"/>
          <p:cNvSpPr/>
          <p:nvPr/>
        </p:nvSpPr>
        <p:spPr>
          <a:xfrm>
            <a:off x="649080" y="4700160"/>
            <a:ext cx="33462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50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SCENARIO B · DUPLICATE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7"/>
          <p:cNvSpPr/>
          <p:nvPr/>
        </p:nvSpPr>
        <p:spPr>
          <a:xfrm>
            <a:off x="649080" y="4919400"/>
            <a:ext cx="3346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Record correction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8"/>
          <p:cNvSpPr/>
          <p:nvPr/>
        </p:nvSpPr>
        <p:spPr>
          <a:xfrm>
            <a:off x="649080" y="5212080"/>
            <a:ext cx="33462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Reviewer voids the repeated receipt with a reason - R returns to 0 L and the original records stay in history.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9"/>
          <p:cNvSpPr/>
          <p:nvPr/>
        </p:nvSpPr>
        <p:spPr>
          <a:xfrm>
            <a:off x="4270320" y="4590360"/>
            <a:ext cx="3638880" cy="1444320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round/>
          </a:ln>
          <a:effectLst>
            <a:outerShdw algn="bl" blurRad="63360" dir="2700000" dist="25455" kx="0" ky="0" rotWithShape="0" sx="100000" sy="100000">
              <a:srgbClr val="0A1B28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0"/>
          <p:cNvSpPr/>
          <p:nvPr/>
        </p:nvSpPr>
        <p:spPr>
          <a:xfrm>
            <a:off x="4416480" y="4700160"/>
            <a:ext cx="33462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50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SCENARIO C · MISSING READING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1"/>
          <p:cNvSpPr/>
          <p:nvPr/>
        </p:nvSpPr>
        <p:spPr>
          <a:xfrm>
            <a:off x="4416480" y="4919400"/>
            <a:ext cx="3346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No residual invented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2"/>
          <p:cNvSpPr/>
          <p:nvPr/>
        </p:nvSpPr>
        <p:spPr>
          <a:xfrm>
            <a:off x="4416480" y="5212080"/>
            <a:ext cx="33462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No closing reading? The run is 'incomplete' and asserts no residual at all. The fix is a measurement, not a guess.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3"/>
          <p:cNvSpPr/>
          <p:nvPr/>
        </p:nvSpPr>
        <p:spPr>
          <a:xfrm>
            <a:off x="8037720" y="4590360"/>
            <a:ext cx="3638880" cy="1444320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round/>
          </a:ln>
          <a:effectLst>
            <a:outerShdw algn="bl" blurRad="63360" dir="2700000" dist="25455" kx="0" ky="0" rotWithShape="0" sx="100000" sy="100000">
              <a:srgbClr val="0A1B28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4"/>
          <p:cNvSpPr/>
          <p:nvPr/>
        </p:nvSpPr>
        <p:spPr>
          <a:xfrm>
            <a:off x="8183880" y="4700160"/>
            <a:ext cx="33462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50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SCENARIO D · UNEXPLAINED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5"/>
          <p:cNvSpPr/>
          <p:nvPr/>
        </p:nvSpPr>
        <p:spPr>
          <a:xfrm>
            <a:off x="8183880" y="4919400"/>
            <a:ext cx="3346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Investigation, never accusation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6"/>
          <p:cNvSpPr/>
          <p:nvPr/>
        </p:nvSpPr>
        <p:spPr>
          <a:xfrm>
            <a:off x="8183880" y="5212080"/>
            <a:ext cx="33462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R = +2,000 L in [1,400, 2,600] L opens an owned case - the cause is never auto-labelled theft or leakage.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7"/>
          <p:cNvSpPr/>
          <p:nvPr/>
        </p:nvSpPr>
        <p:spPr>
          <a:xfrm>
            <a:off x="2258640" y="6144840"/>
            <a:ext cx="7680600" cy="383760"/>
          </a:xfrm>
          <a:prstGeom prst="roundRect">
            <a:avLst>
              <a:gd name="adj" fmla="val 21429"/>
            </a:avLst>
          </a:prstGeom>
          <a:solidFill>
            <a:srgbClr val="FDF4E5"/>
          </a:solidFill>
          <a:ln w="9525">
            <a:solidFill>
              <a:srgbClr val="F3DF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8"/>
          <p:cNvSpPr/>
          <p:nvPr/>
        </p:nvSpPr>
        <p:spPr>
          <a:xfrm>
            <a:off x="2258640" y="6144840"/>
            <a:ext cx="76806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77E14"/>
                </a:solidFill>
                <a:effectLst/>
                <a:uFillTx/>
                <a:latin typeface="Segoe UI"/>
                <a:ea typeface="Segoe UI"/>
              </a:rPr>
              <a:t>Every number carries its uncertainty - and a discrepancy is never labelled theft or leakage.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9"/>
          <p:cNvSpPr/>
          <p:nvPr/>
        </p:nvSpPr>
        <p:spPr>
          <a:xfrm>
            <a:off x="502920" y="645552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SevaForge · JalLekha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30"/>
          <p:cNvSpPr/>
          <p:nvPr/>
        </p:nvSpPr>
        <p:spPr>
          <a:xfrm>
            <a:off x="6199560" y="6455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Seva First Innovation Challenge 2026 · Maharashtra Zone · 3 / 6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502920" y="311040"/>
            <a:ext cx="1118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pc="300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THE ENGINEERING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502920" y="567000"/>
            <a:ext cx="111826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A pure, tested core. AI assists - never decides.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502920" y="1481400"/>
            <a:ext cx="5440320" cy="968760"/>
          </a:xfrm>
          <a:prstGeom prst="roundRect">
            <a:avLst>
              <a:gd name="adj" fmla="val 8491"/>
            </a:avLst>
          </a:prstGeom>
          <a:solidFill>
            <a:srgbClr val="EEF6F5"/>
          </a:solidFill>
          <a:ln w="12700">
            <a:solidFill>
              <a:srgbClr val="E2F0EE"/>
            </a:solidFill>
            <a:round/>
          </a:ln>
          <a:effectLst>
            <a:outerShdw algn="bl" blurRad="63360" dir="2700000" dist="25455" kx="0" ky="0" rotWithShape="0" sx="100000" sy="100000">
              <a:srgbClr val="0A1B28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685800" y="1572840"/>
            <a:ext cx="5074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INTERFACE - Next.js 16 · TypeScript · Tailwind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"/>
          <p:cNvSpPr/>
          <p:nvPr/>
        </p:nvSpPr>
        <p:spPr>
          <a:xfrm>
            <a:off x="685800" y="1865520"/>
            <a:ext cx="5074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landing · guided demo · workspace: dashboard, ledger, readings, reconciliation, cases, reports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5"/>
          <p:cNvSpPr/>
          <p:nvPr/>
        </p:nvSpPr>
        <p:spPr>
          <a:xfrm>
            <a:off x="3223080" y="2468880"/>
            <a:ext cx="360" cy="182880"/>
          </a:xfrm>
          <a:prstGeom prst="line">
            <a:avLst/>
          </a:prstGeom>
          <a:ln w="22225">
            <a:solidFill>
              <a:srgbClr val="0E948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6"/>
          <p:cNvSpPr/>
          <p:nvPr/>
        </p:nvSpPr>
        <p:spPr>
          <a:xfrm>
            <a:off x="502920" y="2688480"/>
            <a:ext cx="5440320" cy="968760"/>
          </a:xfrm>
          <a:prstGeom prst="roundRect">
            <a:avLst>
              <a:gd name="adj" fmla="val 8491"/>
            </a:avLst>
          </a:prstGeom>
          <a:solidFill>
            <a:srgbClr val="0E9488"/>
          </a:solidFill>
          <a:ln w="12700">
            <a:solidFill>
              <a:srgbClr val="0E9488"/>
            </a:solidFill>
            <a:round/>
          </a:ln>
          <a:effectLst>
            <a:outerShdw algn="bl" blurRad="63360" dir="2700000" dist="25455" kx="0" ky="0" rotWithShape="0" sx="100000" sy="100000">
              <a:srgbClr val="0A1B28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7"/>
          <p:cNvSpPr/>
          <p:nvPr/>
        </p:nvSpPr>
        <p:spPr>
          <a:xfrm>
            <a:off x="685800" y="2779920"/>
            <a:ext cx="5074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DOMAIN - recon-v1.0 rule engine · pure TypeScript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8"/>
          <p:cNvSpPr/>
          <p:nvPr/>
        </p:nvSpPr>
        <p:spPr>
          <a:xfrm>
            <a:off x="685800" y="3072240"/>
            <a:ext cx="5074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8F3EF"/>
                </a:solidFill>
                <a:effectLst/>
                <a:uFillTx/>
                <a:latin typeface="Segoe UI"/>
                <a:ea typeface="Segoe UI"/>
              </a:rPr>
              <a:t>balance · findings · CSV import · audit state · strict units - no framework imports, fully unit-tested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9"/>
          <p:cNvSpPr/>
          <p:nvPr/>
        </p:nvSpPr>
        <p:spPr>
          <a:xfrm>
            <a:off x="3223080" y="3675600"/>
            <a:ext cx="360" cy="182880"/>
          </a:xfrm>
          <a:prstGeom prst="line">
            <a:avLst/>
          </a:prstGeom>
          <a:ln w="22225">
            <a:solidFill>
              <a:srgbClr val="0E948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0"/>
          <p:cNvSpPr/>
          <p:nvPr/>
        </p:nvSpPr>
        <p:spPr>
          <a:xfrm>
            <a:off x="502920" y="3895200"/>
            <a:ext cx="5440320" cy="968760"/>
          </a:xfrm>
          <a:prstGeom prst="roundRect">
            <a:avLst>
              <a:gd name="adj" fmla="val 8491"/>
            </a:avLst>
          </a:prstGeom>
          <a:solidFill>
            <a:srgbClr val="EEF6F5"/>
          </a:solidFill>
          <a:ln w="12700">
            <a:solidFill>
              <a:srgbClr val="E2F0EE"/>
            </a:solidFill>
            <a:round/>
          </a:ln>
          <a:effectLst>
            <a:outerShdw algn="bl" blurRad="63360" dir="2700000" dist="25455" kx="0" ky="0" rotWithShape="0" sx="100000" sy="100000">
              <a:srgbClr val="0A1B28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1"/>
          <p:cNvSpPr/>
          <p:nvPr/>
        </p:nvSpPr>
        <p:spPr>
          <a:xfrm>
            <a:off x="685800" y="3986640"/>
            <a:ext cx="5074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DATA - DataAdapter port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2"/>
          <p:cNvSpPr/>
          <p:nvPr/>
        </p:nvSpPr>
        <p:spPr>
          <a:xfrm>
            <a:off x="685800" y="4279320"/>
            <a:ext cx="5074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browser-local demo (disclosed) · in-memory tests · shared backend (Supabase + RLS) designed as drop-in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3"/>
          <p:cNvSpPr/>
          <p:nvPr/>
        </p:nvSpPr>
        <p:spPr>
          <a:xfrm>
            <a:off x="502920" y="4919400"/>
            <a:ext cx="54403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Key decisions: decimal-safe litres (NaN / negative / over-capacity rejected, never clamped) · exact boundary instants (tolerance 0) · content-derived stable finding IDs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4"/>
          <p:cNvSpPr/>
          <p:nvPr/>
        </p:nvSpPr>
        <p:spPr>
          <a:xfrm>
            <a:off x="6263640" y="1444680"/>
            <a:ext cx="5421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BUILT &amp; VERIFIED - DATED RUN LOG, 31 OCT 2026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5"/>
          <p:cNvSpPr/>
          <p:nvPr/>
        </p:nvSpPr>
        <p:spPr>
          <a:xfrm>
            <a:off x="6263640" y="17740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✓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6"/>
          <p:cNvSpPr/>
          <p:nvPr/>
        </p:nvSpPr>
        <p:spPr>
          <a:xfrm>
            <a:off x="6592680" y="1792080"/>
            <a:ext cx="5092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41 / 41 domain tests · 33 / 33 browser e2e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7"/>
          <p:cNvSpPr/>
          <p:nvPr/>
        </p:nvSpPr>
        <p:spPr>
          <a:xfrm>
            <a:off x="6592680" y="2057400"/>
            <a:ext cx="509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Vitest + Playwright on the production build; strict tsc 0 errors, lint 0/0 - docs/VALIDATION.md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8"/>
          <p:cNvSpPr/>
          <p:nvPr/>
        </p:nvSpPr>
        <p:spPr>
          <a:xfrm>
            <a:off x="6263640" y="256032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✓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9"/>
          <p:cNvSpPr/>
          <p:nvPr/>
        </p:nvSpPr>
        <p:spPr>
          <a:xfrm>
            <a:off x="6592680" y="2578680"/>
            <a:ext cx="5092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Deterministic engine - zero AI in the math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0"/>
          <p:cNvSpPr/>
          <p:nvPr/>
        </p:nvSpPr>
        <p:spPr>
          <a:xfrm>
            <a:off x="6592680" y="2843640"/>
            <a:ext cx="509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Same inputs always give the same verdict; four signature scenarios asserted to the litre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1"/>
          <p:cNvSpPr/>
          <p:nvPr/>
        </p:nvSpPr>
        <p:spPr>
          <a:xfrm>
            <a:off x="6263640" y="334656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✓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2"/>
          <p:cNvSpPr/>
          <p:nvPr/>
        </p:nvSpPr>
        <p:spPr>
          <a:xfrm>
            <a:off x="6592680" y="3364920"/>
            <a:ext cx="5092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CSV import you can trust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3"/>
          <p:cNvSpPr/>
          <p:nvPr/>
        </p:nvSpPr>
        <p:spPr>
          <a:xfrm>
            <a:off x="6592680" y="3630240"/>
            <a:ext cx="509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Validate-before-commit preview; replaying the same file never doubles a total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4"/>
          <p:cNvSpPr/>
          <p:nvPr/>
        </p:nvSpPr>
        <p:spPr>
          <a:xfrm>
            <a:off x="6263640" y="413316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✓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5"/>
          <p:cNvSpPr/>
          <p:nvPr/>
        </p:nvSpPr>
        <p:spPr>
          <a:xfrm>
            <a:off x="6592680" y="4151520"/>
            <a:ext cx="5092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Every correction keeps its history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6"/>
          <p:cNvSpPr/>
          <p:nvPr/>
        </p:nvSpPr>
        <p:spPr>
          <a:xfrm>
            <a:off x="6592680" y="4416480"/>
            <a:ext cx="509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Audit trail + superseded runs - reviewers see what changed and why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7"/>
          <p:cNvSpPr/>
          <p:nvPr/>
        </p:nvSpPr>
        <p:spPr>
          <a:xfrm>
            <a:off x="6263640" y="491940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✓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8"/>
          <p:cNvSpPr/>
          <p:nvPr/>
        </p:nvSpPr>
        <p:spPr>
          <a:xfrm>
            <a:off x="6592680" y="4937760"/>
            <a:ext cx="5092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Optional AI, bring your own key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9"/>
          <p:cNvSpPr/>
          <p:nvPr/>
        </p:nvSpPr>
        <p:spPr>
          <a:xfrm>
            <a:off x="6592680" y="5203080"/>
            <a:ext cx="5092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Schema-validated explanations &amp; note-drafting with rule-based fallback - stored only in your browser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30"/>
          <p:cNvSpPr/>
          <p:nvPr/>
        </p:nvSpPr>
        <p:spPr>
          <a:xfrm>
            <a:off x="502920" y="5833800"/>
            <a:ext cx="3638880" cy="475200"/>
          </a:xfrm>
          <a:prstGeom prst="roundRect">
            <a:avLst>
              <a:gd name="adj" fmla="val 15385"/>
            </a:avLst>
          </a:prstGeom>
          <a:solidFill>
            <a:srgbClr val="0B24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31"/>
          <p:cNvSpPr/>
          <p:nvPr/>
        </p:nvSpPr>
        <p:spPr>
          <a:xfrm>
            <a:off x="631080" y="5833800"/>
            <a:ext cx="3382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NOW  </a:t>
            </a:r>
            <a:r>
              <a:rPr lang="en-US" sz="1150" b="0" u="none" strike="noStrike">
                <a:solidFill>
                  <a:srgbClr val="DCEBEA"/>
                </a:solidFill>
                <a:effectLst/>
                <a:uFillTx/>
                <a:latin typeface="Segoe UI"/>
                <a:ea typeface="Segoe UI"/>
              </a:rPr>
              <a:t>Single-device pilot - browser-local workspace, operator CSVs, zero hardware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32"/>
          <p:cNvSpPr/>
          <p:nvPr/>
        </p:nvSpPr>
        <p:spPr>
          <a:xfrm>
            <a:off x="4146480" y="6071400"/>
            <a:ext cx="119160" cy="360"/>
          </a:xfrm>
          <a:prstGeom prst="line">
            <a:avLst/>
          </a:prstGeom>
          <a:ln w="22225">
            <a:solidFill>
              <a:srgbClr val="0E948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33"/>
          <p:cNvSpPr/>
          <p:nvPr/>
        </p:nvSpPr>
        <p:spPr>
          <a:xfrm>
            <a:off x="4270320" y="5833800"/>
            <a:ext cx="3638880" cy="475200"/>
          </a:xfrm>
          <a:prstGeom prst="roundRect">
            <a:avLst>
              <a:gd name="adj" fmla="val 15385"/>
            </a:avLst>
          </a:prstGeom>
          <a:solidFill>
            <a:srgbClr val="0B24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34"/>
          <p:cNvSpPr/>
          <p:nvPr/>
        </p:nvSpPr>
        <p:spPr>
          <a:xfrm>
            <a:off x="4398120" y="5833800"/>
            <a:ext cx="3382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NEXT  </a:t>
            </a:r>
            <a:r>
              <a:rPr lang="en-US" sz="1150" b="0" u="none" strike="noStrike">
                <a:solidFill>
                  <a:srgbClr val="DCEBEA"/>
                </a:solidFill>
                <a:effectLst/>
                <a:uFillTx/>
                <a:latin typeface="Segoe UI"/>
                <a:ea typeface="Segoe UI"/>
              </a:rPr>
              <a:t>Shared authenticated workspaces - the adapter port is already designed for it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35"/>
          <p:cNvSpPr/>
          <p:nvPr/>
        </p:nvSpPr>
        <p:spPr>
          <a:xfrm>
            <a:off x="7913880" y="6071400"/>
            <a:ext cx="118800" cy="360"/>
          </a:xfrm>
          <a:prstGeom prst="line">
            <a:avLst/>
          </a:prstGeom>
          <a:ln w="22225">
            <a:solidFill>
              <a:srgbClr val="0E948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36"/>
          <p:cNvSpPr/>
          <p:nvPr/>
        </p:nvSpPr>
        <p:spPr>
          <a:xfrm>
            <a:off x="8037720" y="5833800"/>
            <a:ext cx="3638880" cy="475200"/>
          </a:xfrm>
          <a:prstGeom prst="roundRect">
            <a:avLst>
              <a:gd name="adj" fmla="val 15385"/>
            </a:avLst>
          </a:prstGeom>
          <a:solidFill>
            <a:srgbClr val="0B24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7"/>
          <p:cNvSpPr/>
          <p:nvPr/>
        </p:nvSpPr>
        <p:spPr>
          <a:xfrm>
            <a:off x="8165520" y="5833800"/>
            <a:ext cx="3382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THEN  </a:t>
            </a:r>
            <a:r>
              <a:rPr lang="en-US" sz="1150" b="0" u="none" strike="noStrike">
                <a:solidFill>
                  <a:srgbClr val="DCEBEA"/>
                </a:solidFill>
                <a:effectLst/>
                <a:uFillTx/>
                <a:latin typeface="Segoe UI"/>
                <a:ea typeface="Segoe UI"/>
              </a:rPr>
              <a:t>Multi-site rollup - one campus chain or a municipal ward, same equation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8"/>
          <p:cNvSpPr/>
          <p:nvPr/>
        </p:nvSpPr>
        <p:spPr>
          <a:xfrm>
            <a:off x="502920" y="645552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SevaForge · JalLekha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39"/>
          <p:cNvSpPr/>
          <p:nvPr/>
        </p:nvSpPr>
        <p:spPr>
          <a:xfrm>
            <a:off x="6199560" y="6455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Seva First Innovation Challenge 2026 · Maharashtra Zone · 4 / 6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 0"/>
          <p:cNvSpPr/>
          <p:nvPr/>
        </p:nvSpPr>
        <p:spPr>
          <a:xfrm>
            <a:off x="502920" y="311040"/>
            <a:ext cx="1118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pc="300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THE IMPACT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502920" y="567000"/>
            <a:ext cx="111826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Measured water is manageable water.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"/>
          <p:cNvSpPr/>
          <p:nvPr/>
        </p:nvSpPr>
        <p:spPr>
          <a:xfrm>
            <a:off x="502920" y="1426320"/>
            <a:ext cx="5394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WHAT THE PILOT WILL MEASURE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3"/>
          <p:cNvSpPr/>
          <p:nvPr/>
        </p:nvSpPr>
        <p:spPr>
          <a:xfrm>
            <a:off x="502920" y="1783080"/>
            <a:ext cx="566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E9488"/>
                </a:solidFill>
                <a:effectLst/>
                <a:uFillTx/>
                <a:latin typeface="Consolas"/>
                <a:ea typeface="Consolas"/>
              </a:rPr>
              <a:t>01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4"/>
          <p:cNvSpPr/>
          <p:nvPr/>
        </p:nvSpPr>
        <p:spPr>
          <a:xfrm>
            <a:off x="1106280" y="1774080"/>
            <a:ext cx="47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Planted-discrepancy detection rate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5"/>
          <p:cNvSpPr/>
          <p:nvPr/>
        </p:nvSpPr>
        <p:spPr>
          <a:xfrm>
            <a:off x="1106280" y="2048400"/>
            <a:ext cx="47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% of seeded duplicate / missing records caught on known test ledgers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6"/>
          <p:cNvSpPr/>
          <p:nvPr/>
        </p:nvSpPr>
        <p:spPr>
          <a:xfrm>
            <a:off x="1106280" y="2523600"/>
            <a:ext cx="4791600" cy="360"/>
          </a:xfrm>
          <a:prstGeom prst="line">
            <a:avLst/>
          </a:prstGeom>
          <a:ln w="9525">
            <a:solidFill>
              <a:srgbClr val="D9E6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7"/>
          <p:cNvSpPr/>
          <p:nvPr/>
        </p:nvSpPr>
        <p:spPr>
          <a:xfrm>
            <a:off x="502920" y="2624400"/>
            <a:ext cx="566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E9488"/>
                </a:solidFill>
                <a:effectLst/>
                <a:uFillTx/>
                <a:latin typeface="Consolas"/>
                <a:ea typeface="Consolas"/>
              </a:rPr>
              <a:t>02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8"/>
          <p:cNvSpPr/>
          <p:nvPr/>
        </p:nvSpPr>
        <p:spPr>
          <a:xfrm>
            <a:off x="1106280" y="2615040"/>
            <a:ext cx="47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Reviewer time-to-diagnosis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9"/>
          <p:cNvSpPr/>
          <p:nvPr/>
        </p:nvSpPr>
        <p:spPr>
          <a:xfrm>
            <a:off x="1106280" y="2889360"/>
            <a:ext cx="47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minutes to the correct next action, vs tracing paper registers by hand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10"/>
          <p:cNvSpPr/>
          <p:nvPr/>
        </p:nvSpPr>
        <p:spPr>
          <a:xfrm>
            <a:off x="1106280" y="3364920"/>
            <a:ext cx="4791600" cy="360"/>
          </a:xfrm>
          <a:prstGeom prst="line">
            <a:avLst/>
          </a:prstGeom>
          <a:ln w="9525">
            <a:solidFill>
              <a:srgbClr val="D9E6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1"/>
          <p:cNvSpPr/>
          <p:nvPr/>
        </p:nvSpPr>
        <p:spPr>
          <a:xfrm>
            <a:off x="502920" y="3465720"/>
            <a:ext cx="566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E9488"/>
                </a:solidFill>
                <a:effectLst/>
                <a:uFillTx/>
                <a:latin typeface="Consolas"/>
                <a:ea typeface="Consolas"/>
              </a:rPr>
              <a:t>03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2"/>
          <p:cNvSpPr/>
          <p:nvPr/>
        </p:nvSpPr>
        <p:spPr>
          <a:xfrm>
            <a:off x="1106280" y="3456360"/>
            <a:ext cx="47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Uncertainty coverage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3"/>
          <p:cNvSpPr/>
          <p:nvPr/>
        </p:nvSpPr>
        <p:spPr>
          <a:xfrm>
            <a:off x="1106280" y="3730680"/>
            <a:ext cx="47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share of reconciliation periods reported with quantified bounds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4"/>
          <p:cNvSpPr/>
          <p:nvPr/>
        </p:nvSpPr>
        <p:spPr>
          <a:xfrm>
            <a:off x="1106280" y="4206240"/>
            <a:ext cx="4791600" cy="360"/>
          </a:xfrm>
          <a:prstGeom prst="line">
            <a:avLst/>
          </a:prstGeom>
          <a:ln w="9525">
            <a:solidFill>
              <a:srgbClr val="D9E6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5"/>
          <p:cNvSpPr/>
          <p:nvPr/>
        </p:nvSpPr>
        <p:spPr>
          <a:xfrm>
            <a:off x="502920" y="4306680"/>
            <a:ext cx="566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E9488"/>
                </a:solidFill>
                <a:effectLst/>
                <a:uFillTx/>
                <a:latin typeface="Consolas"/>
                <a:ea typeface="Consolas"/>
              </a:rPr>
              <a:t>04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6"/>
          <p:cNvSpPr/>
          <p:nvPr/>
        </p:nvSpPr>
        <p:spPr>
          <a:xfrm>
            <a:off x="1106280" y="4297680"/>
            <a:ext cx="47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E2A3A"/>
                </a:solidFill>
                <a:effectLst/>
                <a:uFillTx/>
                <a:latin typeface="Segoe UI"/>
                <a:ea typeface="Segoe UI"/>
              </a:rPr>
              <a:t>Case closure quality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7"/>
          <p:cNvSpPr/>
          <p:nvPr/>
        </p:nvSpPr>
        <p:spPr>
          <a:xfrm>
            <a:off x="1106280" y="4572000"/>
            <a:ext cx="47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duplicates voided with reasons; missing readings re-measured and closed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8"/>
          <p:cNvSpPr/>
          <p:nvPr/>
        </p:nvSpPr>
        <p:spPr>
          <a:xfrm>
            <a:off x="5966640" y="1412640"/>
            <a:ext cx="5769360" cy="2934720"/>
          </a:xfrm>
          <a:prstGeom prst="roundRect">
            <a:avLst>
              <a:gd name="adj" fmla="val 2181"/>
            </a:avLst>
          </a:prstGeom>
          <a:solidFill>
            <a:srgbClr val="FFFFFF"/>
          </a:solidFill>
          <a:ln w="9525">
            <a:solidFill>
              <a:srgbClr val="D9E6E4"/>
            </a:solidFill>
            <a:round/>
          </a:ln>
          <a:effectLst>
            <a:outerShdw algn="bl" blurRad="88920" dir="2700000" dist="37674" kx="0" ky="0" rotWithShape="0" sx="100000" sy="100000">
              <a:srgbClr val="0A1B28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3" name="Image 0" descr="D:\seva innovation\jallekha\pitch-deck\assets\app-dash-crop.png"/>
          <p:cNvPicPr/>
          <p:nvPr/>
        </p:nvPicPr>
        <p:blipFill>
          <a:blip r:embed="rId1"/>
          <a:stretch/>
        </p:blipFill>
        <p:spPr>
          <a:xfrm>
            <a:off x="6016680" y="1463040"/>
            <a:ext cx="5668920" cy="2834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Text 19"/>
          <p:cNvSpPr/>
          <p:nvPr/>
        </p:nvSpPr>
        <p:spPr>
          <a:xfrm>
            <a:off x="5966640" y="4402800"/>
            <a:ext cx="5769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Dashboard - balance waterfall, findings mix, meter trend, tank gauge and data quality in one view.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20"/>
          <p:cNvSpPr/>
          <p:nvPr/>
        </p:nvSpPr>
        <p:spPr>
          <a:xfrm>
            <a:off x="6016680" y="4956120"/>
            <a:ext cx="5668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C77E14"/>
                </a:solidFill>
                <a:effectLst/>
                <a:uFillTx/>
                <a:latin typeface="Segoe UI"/>
                <a:ea typeface="Segoe UI"/>
              </a:rPr>
              <a:t>Baselines are set during the pilot - no litres-saved claims are made before field data exists.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21"/>
          <p:cNvSpPr/>
          <p:nvPr/>
        </p:nvSpPr>
        <p:spPr>
          <a:xfrm>
            <a:off x="502920" y="5797440"/>
            <a:ext cx="3638880" cy="475200"/>
          </a:xfrm>
          <a:prstGeom prst="roundRect">
            <a:avLst>
              <a:gd name="adj" fmla="val 15385"/>
            </a:avLst>
          </a:prstGeom>
          <a:solidFill>
            <a:srgbClr val="EEF6F5"/>
          </a:solidFill>
          <a:ln w="9525">
            <a:solidFill>
              <a:srgbClr val="E2F0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2"/>
          <p:cNvSpPr/>
          <p:nvPr/>
        </p:nvSpPr>
        <p:spPr>
          <a:xfrm>
            <a:off x="621720" y="5797440"/>
            <a:ext cx="34012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CONSERVATION  </a:t>
            </a:r>
            <a:r>
              <a:rPr lang="en-US" sz="105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losses surface early; over-ordering and unnoticed leaks become owned cases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23"/>
          <p:cNvSpPr/>
          <p:nvPr/>
        </p:nvSpPr>
        <p:spPr>
          <a:xfrm>
            <a:off x="4270320" y="5797440"/>
            <a:ext cx="3638880" cy="475200"/>
          </a:xfrm>
          <a:prstGeom prst="roundRect">
            <a:avLst>
              <a:gd name="adj" fmla="val 15385"/>
            </a:avLst>
          </a:prstGeom>
          <a:solidFill>
            <a:srgbClr val="EEF6F5"/>
          </a:solidFill>
          <a:ln w="9525">
            <a:solidFill>
              <a:srgbClr val="E2F0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4"/>
          <p:cNvSpPr/>
          <p:nvPr/>
        </p:nvSpPr>
        <p:spPr>
          <a:xfrm>
            <a:off x="4389120" y="5797440"/>
            <a:ext cx="34012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POLLUTION &amp; HAULAGE  </a:t>
            </a:r>
            <a:r>
              <a:rPr lang="en-US" sz="105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documented demand means fewer emergency tanker trips and less idle haulage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25"/>
          <p:cNvSpPr/>
          <p:nvPr/>
        </p:nvSpPr>
        <p:spPr>
          <a:xfrm>
            <a:off x="8037720" y="5797440"/>
            <a:ext cx="3638880" cy="475200"/>
          </a:xfrm>
          <a:prstGeom prst="roundRect">
            <a:avLst>
              <a:gd name="adj" fmla="val 15385"/>
            </a:avLst>
          </a:prstGeom>
          <a:solidFill>
            <a:srgbClr val="EEF6F5"/>
          </a:solidFill>
          <a:ln w="9525">
            <a:solidFill>
              <a:srgbClr val="E2F0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6"/>
          <p:cNvSpPr/>
          <p:nvPr/>
        </p:nvSpPr>
        <p:spPr>
          <a:xfrm>
            <a:off x="8156520" y="5797440"/>
            <a:ext cx="34012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E9488"/>
                </a:solidFill>
                <a:effectLst/>
                <a:uFillTx/>
                <a:latin typeface="Segoe UI"/>
                <a:ea typeface="Segoe UI"/>
              </a:rPr>
              <a:t>WASTE &amp; TRUST  </a:t>
            </a:r>
            <a:r>
              <a:rPr lang="en-US" sz="105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evidence-backed records end billing disputes and repeat reconciliation work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7"/>
          <p:cNvSpPr/>
          <p:nvPr/>
        </p:nvSpPr>
        <p:spPr>
          <a:xfrm>
            <a:off x="502920" y="645552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SevaForge · JalLekha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28"/>
          <p:cNvSpPr/>
          <p:nvPr/>
        </p:nvSpPr>
        <p:spPr>
          <a:xfrm>
            <a:off x="6199560" y="6455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5C7382"/>
                </a:solidFill>
                <a:effectLst/>
                <a:uFillTx/>
                <a:latin typeface="Segoe UI"/>
                <a:ea typeface="Segoe UI"/>
              </a:rPr>
              <a:t>Seva First Innovation Challenge 2026 · Maharashtra Zone · 5 / 6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2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0"/>
          <p:cNvSpPr/>
          <p:nvPr/>
        </p:nvSpPr>
        <p:spPr>
          <a:xfrm>
            <a:off x="502920" y="384120"/>
            <a:ext cx="566640" cy="56664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0">
            <a:noFill/>
          </a:ln>
          <a:effectLst>
            <a:outerShdw algn="bl" blurRad="63360" dir="2700000" dist="25455" kx="0" ky="0" rotWithShape="0" sx="100000" sy="100000">
              <a:srgbClr val="0A1B28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5" name="Image 0" descr="D:\seva innovation\jallekha\pitch-deck\assets\logo_mark.png"/>
          <p:cNvPicPr/>
          <p:nvPr/>
        </p:nvPicPr>
        <p:blipFill>
          <a:blip r:embed="rId1"/>
          <a:stretch/>
        </p:blipFill>
        <p:spPr>
          <a:xfrm>
            <a:off x="553320" y="434520"/>
            <a:ext cx="465840" cy="46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Text 1"/>
          <p:cNvSpPr/>
          <p:nvPr/>
        </p:nvSpPr>
        <p:spPr>
          <a:xfrm>
            <a:off x="1179720" y="384120"/>
            <a:ext cx="20113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SevaForge</a:t>
            </a:r>
            <a:endParaRPr lang="en-IN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"/>
          <p:cNvSpPr/>
          <p:nvPr/>
        </p:nvSpPr>
        <p:spPr>
          <a:xfrm>
            <a:off x="5120640" y="457200"/>
            <a:ext cx="6564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THE PEOPLE &amp; THE FUTURE</a:t>
            </a:r>
            <a:endParaRPr lang="en-IN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502920" y="117036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Three builders. One honest ask.</a:t>
            </a:r>
            <a:endParaRPr lang="en-IN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4"/>
          <p:cNvSpPr/>
          <p:nvPr/>
        </p:nvSpPr>
        <p:spPr>
          <a:xfrm>
            <a:off x="502920" y="1938600"/>
            <a:ext cx="3565800" cy="1225080"/>
          </a:xfrm>
          <a:prstGeom prst="roundRect">
            <a:avLst>
              <a:gd name="adj" fmla="val 7463"/>
            </a:avLst>
          </a:prstGeom>
          <a:solidFill>
            <a:srgbClr val="12324A"/>
          </a:solidFill>
          <a:ln w="12700">
            <a:solidFill>
              <a:srgbClr val="1E425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5"/>
          <p:cNvSpPr/>
          <p:nvPr/>
        </p:nvSpPr>
        <p:spPr>
          <a:xfrm>
            <a:off x="667440" y="2221920"/>
            <a:ext cx="658080" cy="658080"/>
          </a:xfrm>
          <a:prstGeom prst="ellipse">
            <a:avLst/>
          </a:prstGeom>
          <a:solidFill>
            <a:srgbClr val="0E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6"/>
          <p:cNvSpPr/>
          <p:nvPr/>
        </p:nvSpPr>
        <p:spPr>
          <a:xfrm>
            <a:off x="667440" y="222192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AJ</a:t>
            </a:r>
            <a:endParaRPr lang="en-IN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7"/>
          <p:cNvSpPr/>
          <p:nvPr/>
        </p:nvSpPr>
        <p:spPr>
          <a:xfrm>
            <a:off x="1454040" y="2194560"/>
            <a:ext cx="24685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Arya Jannawar</a:t>
            </a:r>
            <a:endParaRPr lang="en-IN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8"/>
          <p:cNvSpPr/>
          <p:nvPr/>
        </p:nvSpPr>
        <p:spPr>
          <a:xfrm>
            <a:off x="1454040" y="2505600"/>
            <a:ext cx="24685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Team Lead · product &amp; reconciliation domain</a:t>
            </a:r>
            <a:endParaRPr lang="en-IN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9"/>
          <p:cNvSpPr/>
          <p:nvPr/>
        </p:nvSpPr>
        <p:spPr>
          <a:xfrm>
            <a:off x="4215240" y="1938600"/>
            <a:ext cx="3565800" cy="1225080"/>
          </a:xfrm>
          <a:prstGeom prst="roundRect">
            <a:avLst>
              <a:gd name="adj" fmla="val 7463"/>
            </a:avLst>
          </a:prstGeom>
          <a:solidFill>
            <a:srgbClr val="12324A"/>
          </a:solidFill>
          <a:ln w="12700">
            <a:solidFill>
              <a:srgbClr val="1E425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0"/>
          <p:cNvSpPr/>
          <p:nvPr/>
        </p:nvSpPr>
        <p:spPr>
          <a:xfrm>
            <a:off x="4380120" y="2221920"/>
            <a:ext cx="658080" cy="658080"/>
          </a:xfrm>
          <a:prstGeom prst="ellipse">
            <a:avLst/>
          </a:prstGeom>
          <a:solidFill>
            <a:srgbClr val="0E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1"/>
          <p:cNvSpPr/>
          <p:nvPr/>
        </p:nvSpPr>
        <p:spPr>
          <a:xfrm>
            <a:off x="4380120" y="222192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</a:t>
            </a:r>
            <a:endParaRPr lang="en-IN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2"/>
          <p:cNvSpPr/>
          <p:nvPr/>
        </p:nvSpPr>
        <p:spPr>
          <a:xfrm>
            <a:off x="5166360" y="2194560"/>
            <a:ext cx="24685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Avani</a:t>
            </a:r>
            <a:endParaRPr lang="en-IN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3"/>
          <p:cNvSpPr/>
          <p:nvPr/>
        </p:nvSpPr>
        <p:spPr>
          <a:xfrm>
            <a:off x="5166360" y="2505600"/>
            <a:ext cx="24685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Engineering &amp; data integrity</a:t>
            </a:r>
            <a:endParaRPr lang="en-IN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14"/>
          <p:cNvSpPr/>
          <p:nvPr/>
        </p:nvSpPr>
        <p:spPr>
          <a:xfrm>
            <a:off x="7927920" y="1938600"/>
            <a:ext cx="3565800" cy="1225080"/>
          </a:xfrm>
          <a:prstGeom prst="roundRect">
            <a:avLst>
              <a:gd name="adj" fmla="val 7463"/>
            </a:avLst>
          </a:prstGeom>
          <a:solidFill>
            <a:srgbClr val="12324A"/>
          </a:solidFill>
          <a:ln w="12700">
            <a:solidFill>
              <a:srgbClr val="1E425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5"/>
          <p:cNvSpPr/>
          <p:nvPr/>
        </p:nvSpPr>
        <p:spPr>
          <a:xfrm>
            <a:off x="8092440" y="2221920"/>
            <a:ext cx="658080" cy="658080"/>
          </a:xfrm>
          <a:prstGeom prst="ellipse">
            <a:avLst/>
          </a:prstGeom>
          <a:solidFill>
            <a:srgbClr val="0E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6"/>
          <p:cNvSpPr/>
          <p:nvPr/>
        </p:nvSpPr>
        <p:spPr>
          <a:xfrm>
            <a:off x="8092440" y="222192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SP</a:t>
            </a:r>
            <a:endParaRPr lang="en-IN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7"/>
          <p:cNvSpPr/>
          <p:nvPr/>
        </p:nvSpPr>
        <p:spPr>
          <a:xfrm>
            <a:off x="8878680" y="2194560"/>
            <a:ext cx="24685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Siddhant Santosh Pardeshi</a:t>
            </a:r>
            <a:endParaRPr lang="en-IN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8"/>
          <p:cNvSpPr/>
          <p:nvPr/>
        </p:nvSpPr>
        <p:spPr>
          <a:xfrm>
            <a:off x="8878680" y="2505600"/>
            <a:ext cx="24685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Quality &amp; user workflow</a:t>
            </a:r>
            <a:endParaRPr lang="en-IN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9"/>
          <p:cNvSpPr/>
          <p:nvPr/>
        </p:nvSpPr>
        <p:spPr>
          <a:xfrm>
            <a:off x="502920" y="3529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WHAT WE ARE ASKING FOR</a:t>
            </a:r>
            <a:endParaRPr lang="en-IN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0"/>
          <p:cNvSpPr/>
          <p:nvPr/>
        </p:nvSpPr>
        <p:spPr>
          <a:xfrm>
            <a:off x="502920" y="3904560"/>
            <a:ext cx="127800" cy="127800"/>
          </a:xfrm>
          <a:prstGeom prst="ellipse">
            <a:avLst/>
          </a:prstGeom>
          <a:solidFill>
            <a:srgbClr val="2FD6C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1"/>
          <p:cNvSpPr/>
          <p:nvPr/>
        </p:nvSpPr>
        <p:spPr>
          <a:xfrm>
            <a:off x="777240" y="38772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One pilot campus or housing society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22"/>
          <p:cNvSpPr/>
          <p:nvPr/>
        </p:nvSpPr>
        <p:spPr>
          <a:xfrm>
            <a:off x="777240" y="4133160"/>
            <a:ext cx="57603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DBAC6"/>
                </a:solidFill>
                <a:effectLst/>
                <a:uFillTx/>
                <a:latin typeface="Segoe UI"/>
                <a:ea typeface="Segoe UI"/>
              </a:rPr>
              <a:t>4-6 weeks, one device, operator-supplied CSVs - we instrument the four impact metrics and publish the baselines</a:t>
            </a:r>
            <a:endParaRPr lang="en-IN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23"/>
          <p:cNvSpPr/>
          <p:nvPr/>
        </p:nvSpPr>
        <p:spPr>
          <a:xfrm>
            <a:off x="502920" y="4617720"/>
            <a:ext cx="127800" cy="127800"/>
          </a:xfrm>
          <a:prstGeom prst="ellipse">
            <a:avLst/>
          </a:prstGeom>
          <a:solidFill>
            <a:srgbClr val="2FD6C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4"/>
          <p:cNvSpPr/>
          <p:nvPr/>
        </p:nvSpPr>
        <p:spPr>
          <a:xfrm>
            <a:off x="777240" y="459036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Mentorship &amp; lab access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25"/>
          <p:cNvSpPr/>
          <p:nvPr/>
        </p:nvSpPr>
        <p:spPr>
          <a:xfrm>
            <a:off x="777240" y="4846320"/>
            <a:ext cx="57603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DBAC6"/>
                </a:solidFill>
                <a:effectLst/>
                <a:uFillTx/>
                <a:latin typeface="Segoe UI"/>
                <a:ea typeface="Segoe UI"/>
              </a:rPr>
              <a:t>study design for the reviewer-time measurement, and measurement-quality practice from domain experts</a:t>
            </a:r>
            <a:endParaRPr lang="en-IN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26"/>
          <p:cNvSpPr/>
          <p:nvPr/>
        </p:nvSpPr>
        <p:spPr>
          <a:xfrm>
            <a:off x="502920" y="5330880"/>
            <a:ext cx="127800" cy="127800"/>
          </a:xfrm>
          <a:prstGeom prst="ellipse">
            <a:avLst/>
          </a:prstGeom>
          <a:solidFill>
            <a:srgbClr val="2FD6C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27"/>
          <p:cNvSpPr/>
          <p:nvPr/>
        </p:nvSpPr>
        <p:spPr>
          <a:xfrm>
            <a:off x="777240" y="530352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 route to shared deployment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28"/>
          <p:cNvSpPr/>
          <p:nvPr/>
        </p:nvSpPr>
        <p:spPr>
          <a:xfrm>
            <a:off x="777240" y="5559480"/>
            <a:ext cx="57603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DBAC6"/>
                </a:solidFill>
                <a:effectLst/>
                <a:uFillTx/>
                <a:latin typeface="Segoe UI"/>
                <a:ea typeface="Segoe UI"/>
              </a:rPr>
              <a:t>introductions toward authenticated, multi-user workspaces for a full institution - the adapter design is ready</a:t>
            </a:r>
            <a:endParaRPr lang="en-IN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29"/>
          <p:cNvSpPr/>
          <p:nvPr/>
        </p:nvSpPr>
        <p:spPr>
          <a:xfrm>
            <a:off x="6720840" y="3529440"/>
            <a:ext cx="4964760" cy="2304000"/>
          </a:xfrm>
          <a:prstGeom prst="roundRect">
            <a:avLst>
              <a:gd name="adj" fmla="val 3968"/>
            </a:avLst>
          </a:prstGeom>
          <a:solidFill>
            <a:srgbClr val="12324A"/>
          </a:solidFill>
          <a:ln w="12700">
            <a:solidFill>
              <a:srgbClr val="1E4258"/>
            </a:solidFill>
            <a:round/>
          </a:ln>
          <a:effectLst>
            <a:outerShdw algn="bl" blurRad="88920" dir="2700000" dist="37674" kx="0" ky="0" rotWithShape="0" sx="100000" sy="100000">
              <a:srgbClr val="0A1B28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0"/>
          <p:cNvSpPr/>
          <p:nvPr/>
        </p:nvSpPr>
        <p:spPr>
          <a:xfrm>
            <a:off x="6995160" y="3730680"/>
            <a:ext cx="44161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950" b="1" u="none" strike="noStrike">
                <a:solidFill>
                  <a:srgbClr val="2FD6C4"/>
                </a:solidFill>
                <a:effectLst/>
                <a:uFillTx/>
                <a:latin typeface="Segoe UI"/>
                <a:ea typeface="Segoe UI"/>
              </a:rPr>
              <a:t>"Know what came in, what was measured, and what needs checking."</a:t>
            </a:r>
            <a:endParaRPr lang="en-IN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31"/>
          <p:cNvSpPr/>
          <p:nvPr/>
        </p:nvSpPr>
        <p:spPr>
          <a:xfrm>
            <a:off x="6995160" y="4901040"/>
            <a:ext cx="4416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JalLekha - from Team SevaForge</a:t>
            </a:r>
            <a:endParaRPr lang="en-IN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32"/>
          <p:cNvSpPr/>
          <p:nvPr/>
        </p:nvSpPr>
        <p:spPr>
          <a:xfrm>
            <a:off x="6995160" y="5285160"/>
            <a:ext cx="4416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DBAC6"/>
                </a:solidFill>
                <a:effectLst/>
                <a:uFillTx/>
                <a:latin typeface="Segoe UI"/>
                <a:ea typeface="Segoe UI"/>
              </a:rPr>
              <a:t>github.com/Avani376/jallekha  ·  live demo: jallekha-na41.zai-ai.site/demo</a:t>
            </a:r>
            <a:endParaRPr lang="en-IN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33"/>
          <p:cNvSpPr/>
          <p:nvPr/>
        </p:nvSpPr>
        <p:spPr>
          <a:xfrm>
            <a:off x="502920" y="645552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DBAC6"/>
                </a:solidFill>
                <a:effectLst/>
                <a:uFillTx/>
                <a:latin typeface="Segoe UI"/>
                <a:ea typeface="Segoe UI"/>
              </a:rPr>
              <a:t>SevaForge · JalLekha</a:t>
            </a:r>
            <a:endParaRPr lang="en-IN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34"/>
          <p:cNvSpPr/>
          <p:nvPr/>
        </p:nvSpPr>
        <p:spPr>
          <a:xfrm>
            <a:off x="6199560" y="64555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DBAC6"/>
                </a:solidFill>
                <a:effectLst/>
                <a:uFillTx/>
                <a:latin typeface="Segoe UI"/>
                <a:ea typeface="Segoe UI"/>
              </a:rPr>
              <a:t>Seva First Innovation Challenge 2026 · Maharashtra Zone · 6 / 6</a:t>
            </a:r>
            <a:endParaRPr lang="en-IN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LibreOffice/26.8.1.1$Windows_X86_64 LibreOffice_project/bf6ef2662401c7d6dce671ab4deb26ee0af3a7c1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2026-10-31T11:36:05Z</dcterms:created>
  <dc:creator>Team SevaForge - Arya Jannawar, Avani, Siddhant Santosh Pardeshi</dc:creator>
  <dc:description/>
  <dc:language>en-IN</dc:language>
  <cp:lastModifiedBy>Team SevaForge - Arya Jannawar, Avani, Siddhant Santosh Pardeshi</cp:lastModifiedBy>
  <dcterms:modified xsi:type="dcterms:W3CDTF">2026-10-31T11:36:05Z</dcterms:modified>
  <cp:revision>1</cp:revision>
  <dc:subject>PptxGenJS Presentation</dc:subject>
  <dc:title>JalLekha - SevaForge Pitch Deck (Seva First Innovation Challenge 2026)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On-screen Show (16:9)</vt:lpwstr>
  </property>
  <property fmtid="{D5CDD505-2E9C-101B-9397-08002B2CF9AE}" pid="4" name="Slides">
    <vt:i4>6</vt:i4>
  </property>
</Properties>
</file>