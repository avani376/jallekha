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(60-90s). 'Good morning. We are SevaForge - Arya, Avani and Siddhant. JalLekha answers one deceptively simple question for any campus or housing society that buys water by the tanker: did the water that arrived actually match the water that was recorded, measured and paid for?
Point at the screenshot: this is our live product, not a mockup - every figure on screen is recomputed from source records. What came in, what was measured, what needs checking.
Status honesty up front builds credibility: this is a working prototype, validated by 41 automated domain tests and 33 browser end-to-end checks, running on synthetic demonstration data. No pilot, no savings claims - yet. That honesty is deliberate; it is the same discipline the product itself enforces.
Domain: Sustainability - technology for pollution mitigation, water conservation and waste management. Water you cannot account for is water you cannot conserve.'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(60-75s). Ground it in a concrete scene: a hostel manager holds a tanker receipt for 5,000 litres, a dipstick reading that says the tank is fuller than it should be, and a meter log that disagrees with both. Three registers, kept by three people, in three formats - and no way to compute a single water balance.
The three failure modes on the right are the heart of the pitch: (1) the same symptom - 'water doesn't add up' - has three different causes needing three different actions; (2) every manual measurement carries uncertainty that registers hide; (3) hand corrections destroy the evidence trail.
Jury question to pre-empt: 'why not just a spreadsheet?' - because a spreadsheet still cannot separate a duplicate record from a missing measurement, still hides uncertainty, and still lets anyone overwrite history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INNOVATION (90s). Walk the equation left to right: R equals Opening stock plus Deliveries minus Usage minus Closing stock. Each input carries its own declared uncertainty, and the bounds are summed conservatively - if the interval contains zero, the records are consistent with measurement error, full stop.
Then the three outcomes - this is the differentiator. Scenario B: a double-entered receipt shows R = +5,000 L, the duplicate candidate is linked to both rows, and a reviewer voids it with a reason - R returns to 0 L and history is retained. Scenario C: a missing closing reading means NO residual is asserted at all - the app refuses to invent a number and asks for a measurement. Scenario D: a residual outside uncertainty opens an investigation, but the cause is never auto-labelled.
Say it plainly: JalLekha distinguishes duplicate records from missing measurements from unexplained residuals - each gets a different, owned next action. That separation is what manual registers and generic dashboards cannot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ENGINEERING (75-90s). Three-layer architecture, and the layer that matters is the middle one: a pure TypeScript domain core with no framework imports - balance, findings, CSV import, audit state and strict unit handling are all plain functions, so they are trivially testable and portable.
The data layer is a port: today a disclosed browser-local adapter (honest about being per-device), tomorrow a shared backend - Supabase with row-level security is designed as a drop-in, which is exactly what the deployment roadmap needs.
Read the evidence column as claims with receipts: 41/41 Vitest, 33/33 Playwright against the production build, strict TypeScript, and a dated validation log in the repo. On AI: it is optional, bring-your-own-key, schema-validated with a rule-based fallback - the deterministic engine never depends on it. If the network dies, the maths still runs.
Roadmap in one breath: pilot on one device now, shared authenticated workspaces next, multi-site rollup then.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(60-75s). Be disciplined here: we do not claim litres saved, because we have not run a field pilot - and that honesty is itself the impact story.
What we CAN show: a measurement plan that is already instrumented in the product. Detection rate on planted discrepancies, reviewer time-to-diagnosis against manual tracing, the share of periods reported with quantified uncertainty, and case-closure quality. The pilot sets the baselines.
The sustainability logic chain: water you cannot account for, you cannot conserve. Reconciliation makes every invisible loss visible and ownable - that is the conservation lever. Fewer surprise shortfalls mean fewer emergency tanker hauls; documented evidence ends disputes and re-work.
Scalability: the unit of scaling is a CSV file and a browser - tank to hostel to campus to ward, with no hardware purchase. The same equation works at every level; only the ledger size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(45-60s). Introduce the team in one line each - Arya leads product and the reconciliation domain, Avani drives engineering and data integrity, Siddhant owns quality and the user workflow.
Then the ask, concretely: one pilot site for four to six weeks - we bring the software, the metrics and the training; the campus brings its existing paper registers as CSVs. Mentorship and lab access to run the reviewer-time study properly. And a route to shared deployment so a whole institution can run on authenticated workspaces.
End on the line that is already in the product footer: know what came in, what was measured, and what needs checking. That is the whole product - an honest balance for every litre.
Leave the jury with the links: the repo and the live demo are one click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pic>
        <p:nvPicPr>
          <p:cNvPr id="3" name="Image 0" descr="D:\seva innovation\jallekha\pitch-deck\assets\logo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434340"/>
            <a:ext cx="466344" cy="4663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84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5120640" y="457200"/>
            <a:ext cx="6565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 FIRST INNOVATION CHALLENGE 2026 · MAHARASHTRA ZONE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1298448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JalLekha</a:t>
            </a:r>
            <a:endParaRPr lang="en-US" sz="6200" dirty="0"/>
          </a:p>
        </p:txBody>
      </p:sp>
      <p:sp>
        <p:nvSpPr>
          <p:cNvPr id="7" name="Text 4"/>
          <p:cNvSpPr/>
          <p:nvPr/>
        </p:nvSpPr>
        <p:spPr>
          <a:xfrm>
            <a:off x="502920" y="2395728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delivery. Every reading.</a:t>
            </a:r>
            <a:endParaRPr lang="en-US" sz="2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clearer water balance.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502920" y="3401568"/>
            <a:ext cx="5440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DCEB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deterministic water-balance engine that reconciles tanker receipts, tank stock readings and meter logs for campuses and housing societies - showing what came in, what was measured, and what needs checking, with uncertainty you can see and an audit trail you can defend.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02920" y="4709160"/>
            <a:ext cx="2395728" cy="384048"/>
          </a:xfrm>
          <a:prstGeom prst="roundRect">
            <a:avLst>
              <a:gd name="adj" fmla="val 21429"/>
            </a:avLst>
          </a:prstGeom>
          <a:solidFill>
            <a:srgbClr val="12324A"/>
          </a:solidFill>
          <a:ln w="9525">
            <a:solidFill>
              <a:srgbClr val="1E425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4709160"/>
            <a:ext cx="2395728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prototype · live demo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026664" y="4709160"/>
            <a:ext cx="2432304" cy="384048"/>
          </a:xfrm>
          <a:prstGeom prst="roundRect">
            <a:avLst>
              <a:gd name="adj" fmla="val 21429"/>
            </a:avLst>
          </a:prstGeom>
          <a:solidFill>
            <a:srgbClr val="12324A"/>
          </a:solidFill>
          <a:ln w="9525">
            <a:solidFill>
              <a:srgbClr val="1E42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26664" y="4709160"/>
            <a:ext cx="243230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 unit + 33 e2e tests green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5376672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Sector: Sustainability - Energy, Climate and Others</a:t>
            </a:r>
            <a:endParaRPr lang="en-US" sz="12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Sub-theme: Technology for pollution mitigation, water conservation and waste management</a:t>
            </a:r>
            <a:endParaRPr lang="en-US" sz="12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 A - Product / Technology Solution · Open Level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966460" y="1184148"/>
            <a:ext cx="5769864" cy="2740343"/>
          </a:xfrm>
          <a:prstGeom prst="roundRect">
            <a:avLst>
              <a:gd name="adj" fmla="val 2336"/>
            </a:avLst>
          </a:prstGeom>
          <a:solidFill>
            <a:srgbClr val="FFFFFF"/>
          </a:solidFill>
          <a:ln w="9525">
            <a:solidFill>
              <a:srgbClr val="1E4258"/>
            </a:solidFill>
            <a:prstDash val="solid"/>
          </a:ln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pic>
        <p:nvPicPr>
          <p:cNvPr id="15" name="Image 1" descr="D:\seva innovation\jallekha\pitch-deck\assets\app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234440"/>
            <a:ext cx="5669280" cy="2639759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66460" y="3979354"/>
            <a:ext cx="5769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product - jallekha-na41.zai-ai.site/demo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966460" y="4384548"/>
            <a:ext cx="5769864" cy="1695069"/>
          </a:xfrm>
          <a:prstGeom prst="roundRect">
            <a:avLst>
              <a:gd name="adj" fmla="val 3776"/>
            </a:avLst>
          </a:prstGeom>
          <a:solidFill>
            <a:srgbClr val="FFFFFF"/>
          </a:solidFill>
          <a:ln w="9525">
            <a:solidFill>
              <a:srgbClr val="1E4258"/>
            </a:solidFill>
            <a:prstDash val="solid"/>
          </a:ln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pic>
        <p:nvPicPr>
          <p:cNvPr id="18" name="Image 2" descr="D:\seva innovation\jallekha\pitch-deck\assets\app-workf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4434840"/>
            <a:ext cx="5669280" cy="159448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966460" y="6134481"/>
            <a:ext cx="5769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workflow, visible end to end - record → reconcile → investigate → resolve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registers. No single water balance.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755648" cy="1444752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12648" y="1591056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Tanker receipts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12648" y="210312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#R-101 · 5,000 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12648" y="239572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slips + a register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23160" y="1481328"/>
            <a:ext cx="1755648" cy="1444752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32888" y="1591056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Tank dipstick readings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532888" y="210312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11,000 L ± 200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532888" y="239572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twice a day, by hand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1481328"/>
            <a:ext cx="1755648" cy="1444752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53128" y="1591056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Meter logs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453128" y="210312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1,00,000 → 1,04,000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453128" y="239572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m³, one line a day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380744" y="2944368"/>
            <a:ext cx="2299716" cy="722376"/>
          </a:xfrm>
          <a:prstGeom prst="line">
            <a:avLst/>
          </a:prstGeom>
          <a:noFill/>
          <a:ln w="19050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300984" y="2944368"/>
            <a:ext cx="379476" cy="722376"/>
          </a:xfrm>
          <a:prstGeom prst="line">
            <a:avLst/>
          </a:prstGeom>
          <a:noFill/>
          <a:ln w="19050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3680460" y="2944368"/>
            <a:ext cx="1540764" cy="722376"/>
          </a:xfrm>
          <a:prstGeom prst="line">
            <a:avLst/>
          </a:prstGeom>
          <a:noFill/>
          <a:ln w="19050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5840" y="3703320"/>
            <a:ext cx="5349240" cy="969264"/>
          </a:xfrm>
          <a:prstGeom prst="roundRect">
            <a:avLst>
              <a:gd name="adj" fmla="val 8491"/>
            </a:avLst>
          </a:prstGeom>
          <a:solidFill>
            <a:srgbClr val="0B2434"/>
          </a:solidFill>
          <a:ln/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88720" y="381304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 doesn't add up - so staff trace entries by hand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188720" y="4206240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Duplicate? Missing reading? Real loss? The register cannot say.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5029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FEELS IT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5340096"/>
            <a:ext cx="1755648" cy="402336"/>
          </a:xfrm>
          <a:prstGeom prst="roundRect">
            <a:avLst>
              <a:gd name="adj" fmla="val 20455"/>
            </a:avLst>
          </a:prstGeom>
          <a:solidFill>
            <a:srgbClr val="EEF6F5"/>
          </a:solidFill>
          <a:ln w="9525">
            <a:solidFill>
              <a:srgbClr val="E2F0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5340096"/>
            <a:ext cx="1755648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Hostel &amp; campus teams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2368296" y="5340096"/>
            <a:ext cx="1554480" cy="402336"/>
          </a:xfrm>
          <a:prstGeom prst="roundRect">
            <a:avLst>
              <a:gd name="adj" fmla="val 20455"/>
            </a:avLst>
          </a:prstGeom>
          <a:solidFill>
            <a:srgbClr val="EEF6F5"/>
          </a:solidFill>
          <a:ln w="9525">
            <a:solidFill>
              <a:srgbClr val="E2F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68296" y="5340096"/>
            <a:ext cx="155448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Housing societies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032504" y="5340096"/>
            <a:ext cx="1755648" cy="402336"/>
          </a:xfrm>
          <a:prstGeom prst="roundRect">
            <a:avLst>
              <a:gd name="adj" fmla="val 20455"/>
            </a:avLst>
          </a:prstGeom>
          <a:solidFill>
            <a:srgbClr val="EEF6F5"/>
          </a:solidFill>
          <a:ln w="9525">
            <a:solidFill>
              <a:srgbClr val="E2F0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32504" y="5340096"/>
            <a:ext cx="1755648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Students &amp; residents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263640" y="144475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PAPER CANNOT CARRY THIS WORKFLOW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63640" y="1828800"/>
            <a:ext cx="310896" cy="310896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6263640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720840" y="1810512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symptom, three different causes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720840" y="2157984"/>
            <a:ext cx="4965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duplicate receipt needs a correction, a missing reading needs a measurement, an unexplained residual needs investigation. Paper cannot tell them apart - so staff guess.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720840" y="3154680"/>
            <a:ext cx="4965192" cy="0"/>
          </a:xfrm>
          <a:prstGeom prst="line">
            <a:avLst/>
          </a:prstGeom>
          <a:noFill/>
          <a:ln w="9525">
            <a:solidFill>
              <a:srgbClr val="D9E6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63640" y="3310128"/>
            <a:ext cx="310896" cy="310896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720840" y="3291840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Exact-looking numbers hide uncertainty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6720840" y="3639312"/>
            <a:ext cx="4965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dipstick is ±100-200 L, a meter ±100 L. Registers make estimates look exact: small errors trigger panic while real losses hide inside tolerance.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720840" y="4636008"/>
            <a:ext cx="4965192" cy="0"/>
          </a:xfrm>
          <a:prstGeom prst="line">
            <a:avLst/>
          </a:prstGeom>
          <a:noFill/>
          <a:ln w="9525">
            <a:solidFill>
              <a:srgbClr val="D9E6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4791456"/>
            <a:ext cx="310896" cy="310896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41" name="Text 39"/>
          <p:cNvSpPr/>
          <p:nvPr/>
        </p:nvSpPr>
        <p:spPr>
          <a:xfrm>
            <a:off x="6263640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6720840" y="47731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Corrections destroy the evidence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6720840" y="5120640"/>
            <a:ext cx="4965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Overwrite one register line and the audit trail is gone. Disputes with suppliers cannot be evidenced - so nothing gets fixed and water stays unaccounted.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 · JalLekha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199632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 First Innovation Challenge 2026 · Maharashtra Zone · 2 /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INNOVATION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equation. Three honest outcomes.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5212080" cy="2542032"/>
          </a:xfrm>
          <a:prstGeom prst="roundRect">
            <a:avLst>
              <a:gd name="adj" fmla="val 3597"/>
            </a:avLst>
          </a:prstGeom>
          <a:solidFill>
            <a:srgbClr val="0B2434"/>
          </a:solidFill>
          <a:ln/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9105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WATER BALANCE - recon-v1.0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" y="184708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O + D - U - C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49808" y="24505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OPENING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956816" y="24505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63824" y="24505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USAGE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370832" y="24505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27066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8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R_min = O_min + D_min - U_max - C_max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8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conservative summed bounds - never root-sum-square optimism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3273552"/>
            <a:ext cx="4754880" cy="0"/>
          </a:xfrm>
          <a:prstGeom prst="line">
            <a:avLst/>
          </a:prstGeom>
          <a:noFill/>
          <a:ln w="9525">
            <a:solidFill>
              <a:srgbClr val="1E42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364992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precedence: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0" y="33649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FE8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invalid → incomplete (no residual asserted) → uncertainty not quantified → within uncertainty → discrepancy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03036" y="1431036"/>
            <a:ext cx="5769864" cy="2297430"/>
          </a:xfrm>
          <a:prstGeom prst="roundRect">
            <a:avLst>
              <a:gd name="adj" fmla="val 2786"/>
            </a:avLst>
          </a:prstGeom>
          <a:solidFill>
            <a:srgbClr val="FFFFFF"/>
          </a:solidFill>
          <a:ln w="9525">
            <a:solidFill>
              <a:srgbClr val="D9E6E4"/>
            </a:solidFill>
            <a:prstDash val="solid"/>
          </a:ln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pic>
        <p:nvPicPr>
          <p:cNvPr id="16" name="Image 0" descr="D:\seva innovation\jallekha\pitch-deck\assets\app-recon-b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3328" y="1481328"/>
            <a:ext cx="5669280" cy="219684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003036" y="3783330"/>
            <a:ext cx="5769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reconciliation - Scenario B: a double-entered receipt R-101 yields R = +5,000 L, bounds [4,300, 5,700] L, duplicate candidate linked to both rows.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4590288"/>
            <a:ext cx="3639312" cy="1444752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9224" y="4700016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B · DUPLICATE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49224" y="491947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correction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9224" y="521208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 voids the repeated receipt with a reason - R returns to 0 L and the original records stay in history.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270248" y="4590288"/>
            <a:ext cx="3639312" cy="1444752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416552" y="4700016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C · MISSING READING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416552" y="491947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residual invented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416552" y="521208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closing reading? The run is 'incomplete' and asserts no residual at all. The fix is a measurement, not a guess.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037576" y="4590288"/>
            <a:ext cx="3639312" cy="1444752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8183880" y="4700016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D · UNEXPLAINED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183880" y="491947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Investigation, never accusation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8183880" y="521208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= +2,000 L in [1,400, 2,600] L opens an owned case - the cause is never auto-labelled theft or leakage.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258568" y="6144768"/>
            <a:ext cx="7680960" cy="384048"/>
          </a:xfrm>
          <a:prstGeom prst="roundRect">
            <a:avLst>
              <a:gd name="adj" fmla="val 21429"/>
            </a:avLst>
          </a:prstGeom>
          <a:solidFill>
            <a:srgbClr val="FDF4E5"/>
          </a:solidFill>
          <a:ln w="9525">
            <a:solidFill>
              <a:srgbClr val="F3DFB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258568" y="6144768"/>
            <a:ext cx="768096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77E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number carries its uncertainty - and a discrepancy is never labelled theft or leakage.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 · JalLekha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199632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 First Innovation Challenge 2026 · Maharashtra Zone · 3 / 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ENGINEERING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pure, tested core. AI assists - never decides.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440680" cy="969264"/>
          </a:xfrm>
          <a:prstGeom prst="roundRect">
            <a:avLst>
              <a:gd name="adj" fmla="val 8491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57276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INTERFACE - Next.js 16 · TypeScript · Tailwind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186537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· guided demo · workspace: dashboard, ledger, readings, reconciliation, cases, reports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23260" y="2468880"/>
            <a:ext cx="0" cy="182880"/>
          </a:xfrm>
          <a:prstGeom prst="line">
            <a:avLst/>
          </a:prstGeom>
          <a:noFill/>
          <a:ln w="22225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02920" y="2688336"/>
            <a:ext cx="5440680" cy="969264"/>
          </a:xfrm>
          <a:prstGeom prst="roundRect">
            <a:avLst>
              <a:gd name="adj" fmla="val 8491"/>
            </a:avLst>
          </a:prstGeom>
          <a:solidFill>
            <a:srgbClr val="0E9488"/>
          </a:solidFill>
          <a:ln w="12700">
            <a:solidFill>
              <a:srgbClr val="0E9488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277977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- recon-v1.0 rule engine · pure TypeScript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85800" y="307238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D8F3E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balance · findings · CSV import · audit state · strict units - no framework imports, fully unit-tested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23260" y="3675888"/>
            <a:ext cx="0" cy="182880"/>
          </a:xfrm>
          <a:prstGeom prst="line">
            <a:avLst/>
          </a:prstGeom>
          <a:noFill/>
          <a:ln w="22225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2920" y="3895344"/>
            <a:ext cx="5440680" cy="969264"/>
          </a:xfrm>
          <a:prstGeom prst="roundRect">
            <a:avLst>
              <a:gd name="adj" fmla="val 8491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98678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- DataAdapter port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85800" y="42793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browser-local demo (disclosed) · in-memory tests · shared backend (Supabase + RLS) designed as drop-in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4919472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decisions: decimal-safe litres (NaN / negative / over-capacity rejected, never clamped) · exact boundary instants (tolerance 0) · content-derived stable finding IDs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63640" y="144475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&amp; VERIFIED - DATED RUN LOG, 31 OCT 2026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63640" y="1773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592824" y="1792224"/>
            <a:ext cx="5093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 / 41 domain tests · 33 / 33 browser e2e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92824" y="2057400"/>
            <a:ext cx="5093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Vitest + Playwright on the production build; strict tsc 0 errors, lint 0/0 - docs/VALIDATION.md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92824" y="2578608"/>
            <a:ext cx="5093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engine - zero AI in the math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92824" y="2843784"/>
            <a:ext cx="5093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inputs always give the same verdict; four signature scenarios asserted to the litre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263640" y="3346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592824" y="3364992"/>
            <a:ext cx="5093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 import you can trust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592824" y="3630168"/>
            <a:ext cx="5093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Validate-before-commit preview; replaying the same file never doubles a total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263640" y="4133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592824" y="4151376"/>
            <a:ext cx="5093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correction keeps its history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592824" y="4416552"/>
            <a:ext cx="5093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trail + superseded runs - reviewers see what changed and why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263640" y="4919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92824" y="4937760"/>
            <a:ext cx="5093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AI, bring your own key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592824" y="5202936"/>
            <a:ext cx="5093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Schema-validated explanations &amp; note-drafting with rule-based fallback - stored only in your browser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02920" y="5833872"/>
            <a:ext cx="3639312" cy="475488"/>
          </a:xfrm>
          <a:prstGeom prst="roundRect">
            <a:avLst>
              <a:gd name="adj" fmla="val 15385"/>
            </a:avLst>
          </a:prstGeom>
          <a:solidFill>
            <a:srgbClr val="0B2434"/>
          </a:solidFill>
          <a:ln/>
        </p:spPr>
      </p:sp>
      <p:sp>
        <p:nvSpPr>
          <p:cNvPr id="33" name="Text 31"/>
          <p:cNvSpPr/>
          <p:nvPr/>
        </p:nvSpPr>
        <p:spPr>
          <a:xfrm>
            <a:off x="630936" y="583387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  </a:t>
            </a:r>
            <a:pPr algn="l" indent="0" marL="0">
              <a:buNone/>
            </a:pPr>
            <a:r>
              <a:rPr lang="en-US" sz="1150" dirty="0">
                <a:solidFill>
                  <a:srgbClr val="DCEB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Single-device pilot - browser-local workspace, operator CSVs, zero hardware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146804" y="6071616"/>
            <a:ext cx="118872" cy="0"/>
          </a:xfrm>
          <a:prstGeom prst="line">
            <a:avLst/>
          </a:prstGeom>
          <a:noFill/>
          <a:ln w="22225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270248" y="5833872"/>
            <a:ext cx="3639312" cy="475488"/>
          </a:xfrm>
          <a:prstGeom prst="roundRect">
            <a:avLst>
              <a:gd name="adj" fmla="val 15385"/>
            </a:avLst>
          </a:prstGeom>
          <a:solidFill>
            <a:srgbClr val="0B2434"/>
          </a:solidFill>
          <a:ln/>
        </p:spPr>
      </p:sp>
      <p:sp>
        <p:nvSpPr>
          <p:cNvPr id="36" name="Text 34"/>
          <p:cNvSpPr/>
          <p:nvPr/>
        </p:nvSpPr>
        <p:spPr>
          <a:xfrm>
            <a:off x="4398264" y="583387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 </a:t>
            </a:r>
            <a:pPr algn="l" indent="0" marL="0">
              <a:buNone/>
            </a:pPr>
            <a:r>
              <a:rPr lang="en-US" sz="1150" dirty="0">
                <a:solidFill>
                  <a:srgbClr val="DCEB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authenticated workspaces - the adapter port is already designed for it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914132" y="6071616"/>
            <a:ext cx="118872" cy="0"/>
          </a:xfrm>
          <a:prstGeom prst="line">
            <a:avLst/>
          </a:prstGeom>
          <a:noFill/>
          <a:ln w="22225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37576" y="5833872"/>
            <a:ext cx="3639312" cy="475488"/>
          </a:xfrm>
          <a:prstGeom prst="roundRect">
            <a:avLst>
              <a:gd name="adj" fmla="val 15385"/>
            </a:avLst>
          </a:prstGeom>
          <a:solidFill>
            <a:srgbClr val="0B2434"/>
          </a:solidFill>
          <a:ln/>
        </p:spPr>
      </p:sp>
      <p:sp>
        <p:nvSpPr>
          <p:cNvPr id="39" name="Text 37"/>
          <p:cNvSpPr/>
          <p:nvPr/>
        </p:nvSpPr>
        <p:spPr>
          <a:xfrm>
            <a:off x="8165592" y="583387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 </a:t>
            </a:r>
            <a:pPr algn="l" indent="0" marL="0">
              <a:buNone/>
            </a:pPr>
            <a:r>
              <a:rPr lang="en-US" sz="1150" dirty="0">
                <a:solidFill>
                  <a:srgbClr val="DCEB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Multi-site rollup - one campus chain or a municipal ward, same equation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 · JalLekha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199632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 First Innovation Challenge 2026 · Maharashtra Zone · 4 / 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IMPACT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Measured water is manageable water.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2646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PILOT WILL MEASURE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06424" y="1773936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Planted-discrepancy detection rate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06424" y="2048256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 of seeded duplicate / missing records caught on known test ledgers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06424" y="2523744"/>
            <a:ext cx="4791456" cy="0"/>
          </a:xfrm>
          <a:prstGeom prst="line">
            <a:avLst/>
          </a:prstGeom>
          <a:noFill/>
          <a:ln w="9525">
            <a:solidFill>
              <a:srgbClr val="D9E6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624328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06424" y="2615184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 time-to-diagnosis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minutes to the correct next action, vs tracing paper registers by hand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06424" y="3364992"/>
            <a:ext cx="4791456" cy="0"/>
          </a:xfrm>
          <a:prstGeom prst="line">
            <a:avLst/>
          </a:prstGeom>
          <a:noFill/>
          <a:ln w="9525">
            <a:solidFill>
              <a:srgbClr val="D9E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46557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106424" y="345643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Uncertainty coverage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06424" y="3730752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of reconciliation periods reported with quantified bounds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06424" y="4206240"/>
            <a:ext cx="4791456" cy="0"/>
          </a:xfrm>
          <a:prstGeom prst="line">
            <a:avLst/>
          </a:prstGeom>
          <a:noFill/>
          <a:ln w="9525">
            <a:solidFill>
              <a:srgbClr val="D9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43068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106424" y="4297680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closure quality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06424" y="457200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duplicates voided with reasons; missing readings re-measured and closed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66460" y="1412748"/>
            <a:ext cx="5769864" cy="2935224"/>
          </a:xfrm>
          <a:prstGeom prst="roundRect">
            <a:avLst>
              <a:gd name="adj" fmla="val 2181"/>
            </a:avLst>
          </a:prstGeom>
          <a:solidFill>
            <a:srgbClr val="FFFFFF"/>
          </a:solidFill>
          <a:ln w="9525">
            <a:solidFill>
              <a:srgbClr val="D9E6E4"/>
            </a:solidFill>
            <a:prstDash val="solid"/>
          </a:ln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pic>
        <p:nvPicPr>
          <p:cNvPr id="21" name="Image 0" descr="D:\seva innovation\jallekha\pitch-deck\assets\app-dash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6752" y="1463040"/>
            <a:ext cx="5669280" cy="283464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966460" y="4402836"/>
            <a:ext cx="5769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- balance waterfall, findings mix, meter trend, tank gauge and data quality in one view.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016752" y="495604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C77E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Baselines are set during the pilot - no litres-saved claims are made before field data exists.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02920" y="5797296"/>
            <a:ext cx="3639312" cy="475488"/>
          </a:xfrm>
          <a:prstGeom prst="roundRect">
            <a:avLst>
              <a:gd name="adj" fmla="val 15385"/>
            </a:avLst>
          </a:prstGeom>
          <a:solidFill>
            <a:srgbClr val="EEF6F5"/>
          </a:solidFill>
          <a:ln w="9525">
            <a:solidFill>
              <a:srgbClr val="E2F0E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1792" y="5797296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CONSERVATION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losses surface early; over-ordering and unnoticed leaks become owned cases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270248" y="5797296"/>
            <a:ext cx="3639312" cy="475488"/>
          </a:xfrm>
          <a:prstGeom prst="roundRect">
            <a:avLst>
              <a:gd name="adj" fmla="val 15385"/>
            </a:avLst>
          </a:prstGeom>
          <a:solidFill>
            <a:srgbClr val="EEF6F5"/>
          </a:solidFill>
          <a:ln w="9525">
            <a:solidFill>
              <a:srgbClr val="E2F0E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389120" y="5797296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POLLUTION &amp; HAULAGE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documented demand means fewer emergency tanker trips and less idle haulage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8037576" y="5797296"/>
            <a:ext cx="3639312" cy="475488"/>
          </a:xfrm>
          <a:prstGeom prst="roundRect">
            <a:avLst>
              <a:gd name="adj" fmla="val 15385"/>
            </a:avLst>
          </a:prstGeom>
          <a:solidFill>
            <a:srgbClr val="EEF6F5"/>
          </a:solidFill>
          <a:ln w="9525">
            <a:solidFill>
              <a:srgbClr val="E2F0E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56448" y="5797296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WASTE &amp; TRUST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evidence-backed records end billing disputes and repeat reconciliation work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 · JalLekha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99632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 First Innovation Challenge 2026 · Maharashtra Zone · 5 / 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pic>
        <p:nvPicPr>
          <p:cNvPr id="3" name="Image 0" descr="D:\seva innovation\jallekha\pitch-deck\assets\logo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434340"/>
            <a:ext cx="466344" cy="4663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84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5120640" y="457200"/>
            <a:ext cx="6565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PEOPLE &amp; THE FUTURE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11704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builders. One honest ask.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02920" y="1938528"/>
            <a:ext cx="3566160" cy="1225296"/>
          </a:xfrm>
          <a:prstGeom prst="roundRect">
            <a:avLst>
              <a:gd name="adj" fmla="val 7463"/>
            </a:avLst>
          </a:prstGeom>
          <a:solidFill>
            <a:srgbClr val="12324A"/>
          </a:solidFill>
          <a:ln w="12700">
            <a:solidFill>
              <a:srgbClr val="1E425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67512" y="2221992"/>
            <a:ext cx="658368" cy="658368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9" name="Text 6"/>
          <p:cNvSpPr/>
          <p:nvPr/>
        </p:nvSpPr>
        <p:spPr>
          <a:xfrm>
            <a:off x="667512" y="222199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AJ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53896" y="21945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Arya Jannawar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453896" y="250545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Lead · product &amp; reconciliation domain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15384" y="1938528"/>
            <a:ext cx="3566160" cy="1225296"/>
          </a:xfrm>
          <a:prstGeom prst="roundRect">
            <a:avLst>
              <a:gd name="adj" fmla="val 7463"/>
            </a:avLst>
          </a:prstGeom>
          <a:solidFill>
            <a:srgbClr val="12324A"/>
          </a:solidFill>
          <a:ln w="12700">
            <a:solidFill>
              <a:srgbClr val="1E425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79976" y="2221992"/>
            <a:ext cx="658368" cy="658368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14" name="Text 11"/>
          <p:cNvSpPr/>
          <p:nvPr/>
        </p:nvSpPr>
        <p:spPr>
          <a:xfrm>
            <a:off x="4379976" y="222199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166360" y="21945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Avani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5166360" y="250545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&amp; data integrity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927848" y="1938528"/>
            <a:ext cx="3566160" cy="1225296"/>
          </a:xfrm>
          <a:prstGeom prst="roundRect">
            <a:avLst>
              <a:gd name="adj" fmla="val 7463"/>
            </a:avLst>
          </a:prstGeom>
          <a:solidFill>
            <a:srgbClr val="12324A"/>
          </a:solidFill>
          <a:ln w="12700">
            <a:solidFill>
              <a:srgbClr val="1E425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92440" y="2221992"/>
            <a:ext cx="658368" cy="658368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19" name="Text 16"/>
          <p:cNvSpPr/>
          <p:nvPr/>
        </p:nvSpPr>
        <p:spPr>
          <a:xfrm>
            <a:off x="8092440" y="222199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878824" y="21945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Siddhant Santosh Pardeshi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8878824" y="250545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&amp; user workflow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02920" y="35295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ARE ASKING FOR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904488"/>
            <a:ext cx="128016" cy="128016"/>
          </a:xfrm>
          <a:prstGeom prst="ellipse">
            <a:avLst/>
          </a:prstGeom>
          <a:solidFill>
            <a:srgbClr val="2FD6C4"/>
          </a:solidFill>
          <a:ln/>
        </p:spPr>
      </p:sp>
      <p:sp>
        <p:nvSpPr>
          <p:cNvPr id="24" name="Text 21"/>
          <p:cNvSpPr/>
          <p:nvPr/>
        </p:nvSpPr>
        <p:spPr>
          <a:xfrm>
            <a:off x="777240" y="387705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pilot campus or housing society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77240" y="4133088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4-6 weeks, one device, operator-supplied CSVs - we instrument the four impact metrics and publish the baselines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4617720"/>
            <a:ext cx="128016" cy="128016"/>
          </a:xfrm>
          <a:prstGeom prst="ellipse">
            <a:avLst/>
          </a:prstGeom>
          <a:solidFill>
            <a:srgbClr val="2FD6C4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45902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Mentorship &amp; lab access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77240" y="484632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study design for the reviewer-time measurement, and measurement-quality practice from domain experts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02920" y="5330952"/>
            <a:ext cx="128016" cy="128016"/>
          </a:xfrm>
          <a:prstGeom prst="ellipse">
            <a:avLst/>
          </a:prstGeom>
          <a:solidFill>
            <a:srgbClr val="2FD6C4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530352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route to shared deployment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777240" y="5559552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introductions toward authenticated, multi-user workspaces for a full institution - the adapter design is ready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6720840" y="3529584"/>
            <a:ext cx="4965192" cy="2304288"/>
          </a:xfrm>
          <a:prstGeom prst="roundRect">
            <a:avLst>
              <a:gd name="adj" fmla="val 3968"/>
            </a:avLst>
          </a:prstGeom>
          <a:solidFill>
            <a:srgbClr val="12324A"/>
          </a:solidFill>
          <a:ln w="12700">
            <a:solidFill>
              <a:srgbClr val="1E4258"/>
            </a:solidFill>
            <a:prstDash val="solid"/>
          </a:ln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995160" y="3730752"/>
            <a:ext cx="4416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5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"Know what came in, what was measured, and what needs checking."</a:t>
            </a:r>
            <a:endParaRPr lang="en-US" sz="1950" dirty="0"/>
          </a:p>
        </p:txBody>
      </p:sp>
      <p:sp>
        <p:nvSpPr>
          <p:cNvPr id="34" name="Text 31"/>
          <p:cNvSpPr/>
          <p:nvPr/>
        </p:nvSpPr>
        <p:spPr>
          <a:xfrm>
            <a:off x="6995160" y="4901184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JalLekha - from Team SevaForge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6995160" y="5285232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github.com/Avani376/jallekha  ·  live demo: jallekha-na41.zai-ai.site/demo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 · JalLekha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199632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 First Innovation Challenge 2026 · Maharashtra Zone · 6 / 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JalLekha - SevaForge Pitch Deck (Seva First Innovation Challenge 2026)</dc:title>
  <dc:subject>PptxGenJS Presentation</dc:subject>
  <dc:creator>Team SevaForge - Arya Jannawar, Avani, Siddhant Santosh Pardeshi</dc:creator>
  <cp:lastModifiedBy>Team SevaForge - Arya Jannawar, Avani, Siddhant Santosh Pardeshi</cp:lastModifiedBy>
  <cp:revision>1</cp:revision>
  <dcterms:created xsi:type="dcterms:W3CDTF">2026-10-31T11:36:05Z</dcterms:created>
  <dcterms:modified xsi:type="dcterms:W3CDTF">2026-10-31T11:36:05Z</dcterms:modified>
</cp:coreProperties>
</file>